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1"/>
  </p:sldMasterIdLst>
  <p:sldIdLst>
    <p:sldId id="256" r:id="rId2"/>
  </p:sldIdLst>
  <p:sldSz cx="43891200" cy="32918400"/>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6008" autoAdjust="0"/>
    <p:restoredTop sz="94676" autoAdjust="0"/>
  </p:normalViewPr>
  <p:slideViewPr>
    <p:cSldViewPr>
      <p:cViewPr varScale="1">
        <p:scale>
          <a:sx n="23" d="100"/>
          <a:sy n="23" d="100"/>
        </p:scale>
        <p:origin x="2124" y="108"/>
      </p:cViewPr>
      <p:guideLst>
        <p:guide orient="horz" pos="10368"/>
        <p:guide pos="13824"/>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336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lumMod val="75000"/>
              </a:schemeClr>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CD68-4A91-B938-B3E741BDAD09}"/>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CD68-4A91-B938-B3E741BDAD09}"/>
            </c:ext>
          </c:extLst>
        </c:ser>
        <c:ser>
          <c:idx val="2"/>
          <c:order val="2"/>
          <c:tx>
            <c:strRef>
              <c:f>Sheet1!$D$1</c:f>
              <c:strCache>
                <c:ptCount val="1"/>
                <c:pt idx="0">
                  <c:v>Series 3</c:v>
                </c:pt>
              </c:strCache>
            </c:strRef>
          </c:tx>
          <c:spPr>
            <a:solidFill>
              <a:schemeClr val="accent5"/>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CD68-4A91-B938-B3E741BDAD09}"/>
            </c:ext>
          </c:extLst>
        </c:ser>
        <c:dLbls>
          <c:showLegendKey val="0"/>
          <c:showVal val="0"/>
          <c:showCatName val="0"/>
          <c:showSerName val="0"/>
          <c:showPercent val="0"/>
          <c:showBubbleSize val="0"/>
        </c:dLbls>
        <c:gapWidth val="219"/>
        <c:overlap val="-27"/>
        <c:axId val="551169192"/>
        <c:axId val="551170504"/>
      </c:barChart>
      <c:catAx>
        <c:axId val="5511691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800" b="0" i="0" u="none" strike="noStrike" kern="1200" baseline="0">
                <a:solidFill>
                  <a:schemeClr val="tx1">
                    <a:lumMod val="65000"/>
                    <a:lumOff val="35000"/>
                  </a:schemeClr>
                </a:solidFill>
                <a:latin typeface="+mn-lt"/>
                <a:ea typeface="+mn-ea"/>
                <a:cs typeface="+mn-cs"/>
              </a:defRPr>
            </a:pPr>
            <a:endParaRPr lang="en-US"/>
          </a:p>
        </c:txPr>
        <c:crossAx val="551170504"/>
        <c:crosses val="autoZero"/>
        <c:auto val="1"/>
        <c:lblAlgn val="ctr"/>
        <c:lblOffset val="100"/>
        <c:noMultiLvlLbl val="0"/>
      </c:catAx>
      <c:valAx>
        <c:axId val="5511705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800" b="0" i="0" u="none" strike="noStrike" kern="1200" baseline="0">
                <a:solidFill>
                  <a:schemeClr val="tx1">
                    <a:lumMod val="65000"/>
                    <a:lumOff val="35000"/>
                  </a:schemeClr>
                </a:solidFill>
                <a:latin typeface="+mn-lt"/>
                <a:ea typeface="+mn-ea"/>
                <a:cs typeface="+mn-cs"/>
              </a:defRPr>
            </a:pPr>
            <a:endParaRPr lang="en-US"/>
          </a:p>
        </c:txPr>
        <c:crossAx val="551169192"/>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2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8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9520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AA2320-7051-4086-BE30-05F3CED99B81}"/>
              </a:ext>
            </a:extLst>
          </p:cNvPr>
          <p:cNvSpPr>
            <a:spLocks noGrp="1"/>
          </p:cNvSpPr>
          <p:nvPr>
            <p:ph type="title"/>
          </p:nvPr>
        </p:nvSpPr>
        <p:spPr>
          <a:xfrm>
            <a:off x="3017520" y="1752603"/>
            <a:ext cx="37856160" cy="6362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CCB6650-51D1-4FB7-8D77-2EAACEEADF8A}"/>
              </a:ext>
            </a:extLst>
          </p:cNvPr>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90E7C8-7FF9-4C9C-8025-3CCF1F580193}"/>
              </a:ext>
            </a:extLst>
          </p:cNvPr>
          <p:cNvSpPr>
            <a:spLocks noGrp="1"/>
          </p:cNvSpPr>
          <p:nvPr>
            <p:ph type="dt" sz="half" idx="2"/>
          </p:nvPr>
        </p:nvSpPr>
        <p:spPr>
          <a:xfrm>
            <a:off x="3017520" y="30510482"/>
            <a:ext cx="9875520" cy="1752600"/>
          </a:xfrm>
          <a:prstGeom prst="rect">
            <a:avLst/>
          </a:prstGeom>
        </p:spPr>
        <p:txBody>
          <a:bodyPr vert="horz" lIns="91440" tIns="45720" rIns="91440" bIns="45720" rtlCol="0" anchor="ctr"/>
          <a:lstStyle>
            <a:lvl1pPr algn="l">
              <a:defRPr sz="4320">
                <a:solidFill>
                  <a:schemeClr val="tx1">
                    <a:tint val="75000"/>
                  </a:schemeClr>
                </a:solidFill>
              </a:defRPr>
            </a:lvl1pPr>
          </a:lstStyle>
          <a:p>
            <a:fld id="{985D6BDF-9D0E-4E2B-85B8-D8F4790360C9}" type="datetimeFigureOut">
              <a:rPr lang="en-US" smtClean="0"/>
              <a:t>7/31/2026</a:t>
            </a:fld>
            <a:endParaRPr lang="en-US" dirty="0"/>
          </a:p>
        </p:txBody>
      </p:sp>
      <p:sp>
        <p:nvSpPr>
          <p:cNvPr id="5" name="Footer Placeholder 4">
            <a:extLst>
              <a:ext uri="{FF2B5EF4-FFF2-40B4-BE49-F238E27FC236}">
                <a16:creationId xmlns:a16="http://schemas.microsoft.com/office/drawing/2014/main" id="{FAC26B8D-9A00-4784-BBA0-627D012CA801}"/>
              </a:ext>
            </a:extLst>
          </p:cNvPr>
          <p:cNvSpPr>
            <a:spLocks noGrp="1"/>
          </p:cNvSpPr>
          <p:nvPr>
            <p:ph type="ftr" sz="quarter" idx="3"/>
          </p:nvPr>
        </p:nvSpPr>
        <p:spPr>
          <a:xfrm>
            <a:off x="14538960" y="30510482"/>
            <a:ext cx="14813280" cy="1752600"/>
          </a:xfrm>
          <a:prstGeom prst="rect">
            <a:avLst/>
          </a:prstGeom>
        </p:spPr>
        <p:txBody>
          <a:bodyPr vert="horz" lIns="91440" tIns="45720" rIns="91440" bIns="45720" rtlCol="0" anchor="ctr"/>
          <a:lstStyle>
            <a:lvl1pPr algn="ctr">
              <a:defRPr sz="432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A6772DF0-F4C0-44E8-9F72-FFC4534F3346}"/>
              </a:ext>
            </a:extLst>
          </p:cNvPr>
          <p:cNvSpPr>
            <a:spLocks noGrp="1"/>
          </p:cNvSpPr>
          <p:nvPr>
            <p:ph type="sldNum" sz="quarter" idx="4"/>
          </p:nvPr>
        </p:nvSpPr>
        <p:spPr>
          <a:xfrm>
            <a:off x="30998160" y="30510482"/>
            <a:ext cx="9875520" cy="1752600"/>
          </a:xfrm>
          <a:prstGeom prst="rect">
            <a:avLst/>
          </a:prstGeom>
        </p:spPr>
        <p:txBody>
          <a:bodyPr vert="horz" lIns="91440" tIns="45720" rIns="91440" bIns="45720" rtlCol="0" anchor="ctr"/>
          <a:lstStyle>
            <a:lvl1pPr algn="r">
              <a:defRPr sz="4320">
                <a:solidFill>
                  <a:schemeClr val="tx1">
                    <a:tint val="75000"/>
                  </a:schemeClr>
                </a:solidFill>
              </a:defRPr>
            </a:lvl1pPr>
          </a:lstStyle>
          <a:p>
            <a:fld id="{FBB075EA-769C-4ECD-B48E-D6FCDC24F876}" type="slidenum">
              <a:rPr lang="en-US" smtClean="0"/>
              <a:t>‹#›</a:t>
            </a:fld>
            <a:endParaRPr lang="en-US" dirty="0"/>
          </a:p>
        </p:txBody>
      </p:sp>
      <p:sp>
        <p:nvSpPr>
          <p:cNvPr id="7" name="Rectangle 6">
            <a:extLst>
              <a:ext uri="{FF2B5EF4-FFF2-40B4-BE49-F238E27FC236}">
                <a16:creationId xmlns:a16="http://schemas.microsoft.com/office/drawing/2014/main" id="{1A6B75E9-20AF-4508-B0B1-37EB62C7573F}"/>
              </a:ext>
            </a:extLst>
          </p:cNvPr>
          <p:cNvSpPr/>
          <p:nvPr userDrawn="1"/>
        </p:nvSpPr>
        <p:spPr>
          <a:xfrm>
            <a:off x="43159680" y="0"/>
            <a:ext cx="731520" cy="329184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dirty="0"/>
          </a:p>
        </p:txBody>
      </p:sp>
      <p:sp>
        <p:nvSpPr>
          <p:cNvPr id="8" name="Rectangle 7">
            <a:extLst>
              <a:ext uri="{FF2B5EF4-FFF2-40B4-BE49-F238E27FC236}">
                <a16:creationId xmlns:a16="http://schemas.microsoft.com/office/drawing/2014/main" id="{1908E2B7-FD7C-4917-9116-BC481670380D}"/>
              </a:ext>
            </a:extLst>
          </p:cNvPr>
          <p:cNvSpPr/>
          <p:nvPr userDrawn="1"/>
        </p:nvSpPr>
        <p:spPr>
          <a:xfrm>
            <a:off x="-3" y="0"/>
            <a:ext cx="731520" cy="329184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dirty="0"/>
          </a:p>
        </p:txBody>
      </p:sp>
      <p:sp>
        <p:nvSpPr>
          <p:cNvPr id="9" name="Rectangle 8">
            <a:extLst>
              <a:ext uri="{FF2B5EF4-FFF2-40B4-BE49-F238E27FC236}">
                <a16:creationId xmlns:a16="http://schemas.microsoft.com/office/drawing/2014/main" id="{4E459857-EC20-4725-9729-C46C2B82E67B}"/>
              </a:ext>
            </a:extLst>
          </p:cNvPr>
          <p:cNvSpPr/>
          <p:nvPr userDrawn="1"/>
        </p:nvSpPr>
        <p:spPr>
          <a:xfrm>
            <a:off x="0" y="0"/>
            <a:ext cx="43891200" cy="41148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dirty="0"/>
          </a:p>
        </p:txBody>
      </p:sp>
      <p:sp>
        <p:nvSpPr>
          <p:cNvPr id="10" name="Rectangle 9">
            <a:extLst>
              <a:ext uri="{FF2B5EF4-FFF2-40B4-BE49-F238E27FC236}">
                <a16:creationId xmlns:a16="http://schemas.microsoft.com/office/drawing/2014/main" id="{53D01061-EB55-4BDA-9715-6B258A79D235}"/>
              </a:ext>
            </a:extLst>
          </p:cNvPr>
          <p:cNvSpPr/>
          <p:nvPr userDrawn="1"/>
        </p:nvSpPr>
        <p:spPr>
          <a:xfrm>
            <a:off x="0" y="28803600"/>
            <a:ext cx="43891200" cy="41148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dirty="0"/>
          </a:p>
        </p:txBody>
      </p:sp>
      <p:sp>
        <p:nvSpPr>
          <p:cNvPr id="11" name="Instructions">
            <a:extLst>
              <a:ext uri="{FF2B5EF4-FFF2-40B4-BE49-F238E27FC236}">
                <a16:creationId xmlns:a16="http://schemas.microsoft.com/office/drawing/2014/main" id="{2635A212-2F14-4E54-B188-2E68FF297809}"/>
              </a:ext>
            </a:extLst>
          </p:cNvPr>
          <p:cNvSpPr/>
          <p:nvPr userDrawn="1"/>
        </p:nvSpPr>
        <p:spPr>
          <a:xfrm>
            <a:off x="-10515600" y="0"/>
            <a:ext cx="9601200" cy="32918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71421" tIns="171421" rIns="171421" bIns="171421"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800"/>
              </a:spcAft>
            </a:pPr>
            <a:r>
              <a:rPr lang="en-US" sz="7200" dirty="0">
                <a:solidFill>
                  <a:srgbClr val="7F7F7F"/>
                </a:solidFill>
                <a:latin typeface="Calibri" pitchFamily="34" charset="0"/>
                <a:cs typeface="Calibri" panose="020F0502020204030204" pitchFamily="34" charset="0"/>
              </a:rPr>
              <a:t>Poster Print Size:</a:t>
            </a:r>
            <a:endParaRPr sz="7200" dirty="0">
              <a:solidFill>
                <a:srgbClr val="7F7F7F"/>
              </a:solidFill>
              <a:latin typeface="Calibri" pitchFamily="34" charset="0"/>
              <a:cs typeface="Calibri" panose="020F0502020204030204" pitchFamily="34" charset="0"/>
            </a:endParaRPr>
          </a:p>
          <a:p>
            <a:pPr lvl="0">
              <a:spcBef>
                <a:spcPts val="0"/>
              </a:spcBef>
              <a:spcAft>
                <a:spcPts val="1800"/>
              </a:spcAft>
            </a:pPr>
            <a:r>
              <a:rPr lang="en-US" sz="4900" dirty="0">
                <a:solidFill>
                  <a:srgbClr val="7F7F7F"/>
                </a:solidFill>
                <a:latin typeface="Calibri" pitchFamily="34" charset="0"/>
                <a:cs typeface="Calibri" panose="020F0502020204030204" pitchFamily="34" charset="0"/>
              </a:rPr>
              <a:t>This poster template is 36” high by 48” wide. It can be used to print any poster with a 3:4 aspect ratio.</a:t>
            </a:r>
          </a:p>
          <a:p>
            <a:pPr lvl="0">
              <a:spcBef>
                <a:spcPts val="0"/>
              </a:spcBef>
              <a:spcAft>
                <a:spcPts val="1800"/>
              </a:spcAft>
            </a:pPr>
            <a:r>
              <a:rPr lang="en-US" sz="7200" dirty="0">
                <a:solidFill>
                  <a:srgbClr val="7F7F7F"/>
                </a:solidFill>
                <a:latin typeface="Calibri" pitchFamily="34" charset="0"/>
                <a:cs typeface="Calibri" panose="020F0502020204030204" pitchFamily="34" charset="0"/>
              </a:rPr>
              <a:t>Placeholders</a:t>
            </a:r>
            <a:r>
              <a:rPr sz="7200" dirty="0">
                <a:solidFill>
                  <a:srgbClr val="7F7F7F"/>
                </a:solidFill>
                <a:latin typeface="Calibri" pitchFamily="34" charset="0"/>
                <a:cs typeface="Calibri" panose="020F0502020204030204" pitchFamily="34" charset="0"/>
              </a:rPr>
              <a:t>:</a:t>
            </a:r>
          </a:p>
          <a:p>
            <a:pPr lvl="0">
              <a:spcBef>
                <a:spcPts val="0"/>
              </a:spcBef>
              <a:spcAft>
                <a:spcPts val="1800"/>
              </a:spcAft>
            </a:pPr>
            <a:r>
              <a:rPr sz="4900" dirty="0">
                <a:solidFill>
                  <a:srgbClr val="7F7F7F"/>
                </a:solidFill>
                <a:latin typeface="Calibri" pitchFamily="34" charset="0"/>
                <a:cs typeface="Calibri" panose="020F0502020204030204" pitchFamily="34" charset="0"/>
              </a:rPr>
              <a:t>The </a:t>
            </a:r>
            <a:r>
              <a:rPr lang="en-US" sz="4900" dirty="0">
                <a:solidFill>
                  <a:srgbClr val="7F7F7F"/>
                </a:solidFill>
                <a:latin typeface="Calibri" pitchFamily="34" charset="0"/>
                <a:cs typeface="Calibri" panose="020F0502020204030204" pitchFamily="34" charset="0"/>
              </a:rPr>
              <a:t>various elements included</a:t>
            </a:r>
            <a:r>
              <a:rPr sz="4900" dirty="0">
                <a:solidFill>
                  <a:srgbClr val="7F7F7F"/>
                </a:solidFill>
                <a:latin typeface="Calibri" pitchFamily="34" charset="0"/>
                <a:cs typeface="Calibri" panose="020F0502020204030204" pitchFamily="34" charset="0"/>
              </a:rPr>
              <a:t> in this </a:t>
            </a:r>
            <a:r>
              <a:rPr lang="en-US" sz="4900" dirty="0">
                <a:solidFill>
                  <a:srgbClr val="7F7F7F"/>
                </a:solidFill>
                <a:latin typeface="Calibri" pitchFamily="34" charset="0"/>
                <a:cs typeface="Calibri" panose="020F0502020204030204" pitchFamily="34" charset="0"/>
              </a:rPr>
              <a:t>poster are ones</a:t>
            </a:r>
            <a:r>
              <a:rPr lang="en-US" sz="4900" baseline="0" dirty="0">
                <a:solidFill>
                  <a:srgbClr val="7F7F7F"/>
                </a:solidFill>
                <a:latin typeface="Calibri" pitchFamily="34" charset="0"/>
                <a:cs typeface="Calibri" panose="020F0502020204030204" pitchFamily="34" charset="0"/>
              </a:rPr>
              <a:t> we often see in medical, research, and scientific posters.</a:t>
            </a:r>
            <a:r>
              <a:rPr sz="4900" dirty="0">
                <a:solidFill>
                  <a:srgbClr val="7F7F7F"/>
                </a:solidFill>
                <a:latin typeface="Calibri" pitchFamily="34" charset="0"/>
                <a:cs typeface="Calibri" panose="020F0502020204030204" pitchFamily="34" charset="0"/>
              </a:rPr>
              <a:t> </a:t>
            </a:r>
            <a:r>
              <a:rPr lang="en-US" sz="4900" dirty="0">
                <a:solidFill>
                  <a:srgbClr val="7F7F7F"/>
                </a:solidFill>
                <a:latin typeface="Calibri" pitchFamily="34" charset="0"/>
                <a:cs typeface="Calibri" panose="020F0502020204030204" pitchFamily="34" charset="0"/>
              </a:rPr>
              <a:t>Feel</a:t>
            </a:r>
            <a:r>
              <a:rPr lang="en-US" sz="4900" baseline="0" dirty="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1800"/>
              </a:spcAft>
            </a:pPr>
            <a:r>
              <a:rPr lang="en-US" sz="7200" dirty="0">
                <a:solidFill>
                  <a:srgbClr val="7F7F7F"/>
                </a:solidFill>
                <a:latin typeface="Calibri" pitchFamily="34" charset="0"/>
                <a:cs typeface="Calibri" panose="020F0502020204030204" pitchFamily="34" charset="0"/>
              </a:rPr>
              <a:t>Image</a:t>
            </a:r>
            <a:r>
              <a:rPr lang="en-US" sz="7200" baseline="0" dirty="0">
                <a:solidFill>
                  <a:srgbClr val="7F7F7F"/>
                </a:solidFill>
                <a:latin typeface="Calibri" pitchFamily="34" charset="0"/>
                <a:cs typeface="Calibri" panose="020F0502020204030204" pitchFamily="34" charset="0"/>
              </a:rPr>
              <a:t> Quality</a:t>
            </a:r>
            <a:r>
              <a:rPr lang="en-US" sz="7200" dirty="0">
                <a:solidFill>
                  <a:srgbClr val="7F7F7F"/>
                </a:solidFill>
                <a:latin typeface="Calibri" pitchFamily="34" charset="0"/>
                <a:cs typeface="Calibri" panose="020F0502020204030204" pitchFamily="34" charset="0"/>
              </a:rPr>
              <a:t>:</a:t>
            </a:r>
          </a:p>
          <a:p>
            <a:pPr lvl="0">
              <a:spcBef>
                <a:spcPts val="0"/>
              </a:spcBef>
              <a:spcAft>
                <a:spcPts val="1800"/>
              </a:spcAft>
            </a:pPr>
            <a:r>
              <a:rPr lang="en-US" sz="4900" dirty="0">
                <a:solidFill>
                  <a:srgbClr val="7F7F7F"/>
                </a:solidFill>
                <a:latin typeface="Calibri" pitchFamily="34" charset="0"/>
                <a:cs typeface="Calibri" panose="020F0502020204030204" pitchFamily="34" charset="0"/>
              </a:rPr>
              <a:t>You can place digital photos or logo art in your poster file by selecting the </a:t>
            </a:r>
            <a:r>
              <a:rPr lang="en-US" sz="4900" b="1" dirty="0">
                <a:solidFill>
                  <a:srgbClr val="7F7F7F"/>
                </a:solidFill>
                <a:latin typeface="Calibri" pitchFamily="34" charset="0"/>
                <a:cs typeface="Calibri" panose="020F0502020204030204" pitchFamily="34" charset="0"/>
              </a:rPr>
              <a:t>Insert, Picture</a:t>
            </a:r>
            <a:r>
              <a:rPr lang="en-US" sz="4900" dirty="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4900" b="1" dirty="0">
                <a:solidFill>
                  <a:srgbClr val="7F7F7F"/>
                </a:solidFill>
                <a:latin typeface="Calibri" pitchFamily="34" charset="0"/>
                <a:cs typeface="Calibri" panose="020F0502020204030204" pitchFamily="34" charset="0"/>
              </a:rPr>
              <a:t>150-200 pixels per inch in their final printed size</a:t>
            </a:r>
            <a:r>
              <a:rPr lang="en-US" sz="4900" dirty="0">
                <a:solidFill>
                  <a:srgbClr val="7F7F7F"/>
                </a:solidFill>
                <a:latin typeface="Calibri" pitchFamily="34" charset="0"/>
                <a:cs typeface="Calibri" panose="020F0502020204030204" pitchFamily="34" charset="0"/>
              </a:rPr>
              <a:t>. For instance, a 1600 x 1200 pixel</a:t>
            </a:r>
            <a:r>
              <a:rPr lang="en-US" sz="4900" baseline="0" dirty="0">
                <a:solidFill>
                  <a:srgbClr val="7F7F7F"/>
                </a:solidFill>
                <a:latin typeface="Calibri" pitchFamily="34" charset="0"/>
                <a:cs typeface="Calibri" panose="020F0502020204030204" pitchFamily="34" charset="0"/>
              </a:rPr>
              <a:t> photo will usually look fine up to </a:t>
            </a:r>
            <a:r>
              <a:rPr lang="en-US" sz="4900" dirty="0">
                <a:solidFill>
                  <a:srgbClr val="7F7F7F"/>
                </a:solidFill>
                <a:latin typeface="Calibri" pitchFamily="34" charset="0"/>
                <a:cs typeface="Calibri" panose="020F0502020204030204" pitchFamily="34" charset="0"/>
              </a:rPr>
              <a:t>8“-10” wide on your printed poster.</a:t>
            </a:r>
          </a:p>
          <a:p>
            <a:pPr lvl="0">
              <a:spcBef>
                <a:spcPts val="0"/>
              </a:spcBef>
              <a:spcAft>
                <a:spcPts val="1800"/>
              </a:spcAft>
            </a:pPr>
            <a:r>
              <a:rPr lang="en-US" sz="4900" dirty="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1800"/>
              </a:spcAft>
            </a:pPr>
            <a:r>
              <a:rPr lang="en-US" sz="4900" dirty="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1800"/>
              </a:spcAft>
            </a:pPr>
            <a:r>
              <a:rPr lang="en-US" sz="3600" dirty="0">
                <a:solidFill>
                  <a:srgbClr val="7F7F7F"/>
                </a:solidFill>
                <a:latin typeface="Calibri" pitchFamily="34" charset="0"/>
                <a:cs typeface="Calibri" panose="020F0502020204030204" pitchFamily="34" charset="0"/>
              </a:rPr>
              <a:t/>
            </a:r>
            <a:br>
              <a:rPr lang="en-US" sz="3600" dirty="0">
                <a:solidFill>
                  <a:srgbClr val="7F7F7F"/>
                </a:solidFill>
                <a:latin typeface="Calibri" pitchFamily="34" charset="0"/>
                <a:cs typeface="Calibri" panose="020F0502020204030204" pitchFamily="34" charset="0"/>
              </a:rPr>
            </a:br>
            <a:r>
              <a:rPr lang="en-US" sz="3600" dirty="0">
                <a:solidFill>
                  <a:srgbClr val="7F7F7F"/>
                </a:solidFill>
                <a:latin typeface="Calibri" pitchFamily="34" charset="0"/>
                <a:cs typeface="Calibri" panose="020F0502020204030204" pitchFamily="34" charset="0"/>
              </a:rPr>
              <a:t>[This sidebar area does not print.]</a:t>
            </a:r>
          </a:p>
        </p:txBody>
      </p:sp>
      <p:grpSp>
        <p:nvGrpSpPr>
          <p:cNvPr id="12" name="Group 11">
            <a:extLst>
              <a:ext uri="{FF2B5EF4-FFF2-40B4-BE49-F238E27FC236}">
                <a16:creationId xmlns:a16="http://schemas.microsoft.com/office/drawing/2014/main" id="{8C03A960-1683-409E-A55D-F51A19859FC5}"/>
              </a:ext>
            </a:extLst>
          </p:cNvPr>
          <p:cNvGrpSpPr/>
          <p:nvPr userDrawn="1"/>
        </p:nvGrpSpPr>
        <p:grpSpPr>
          <a:xfrm>
            <a:off x="44805600" y="0"/>
            <a:ext cx="9601200" cy="32918400"/>
            <a:chOff x="33832800" y="0"/>
            <a:chExt cx="12801600" cy="43891200"/>
          </a:xfrm>
        </p:grpSpPr>
        <p:sp>
          <p:nvSpPr>
            <p:cNvPr id="13" name="Instructions">
              <a:extLst>
                <a:ext uri="{FF2B5EF4-FFF2-40B4-BE49-F238E27FC236}">
                  <a16:creationId xmlns:a16="http://schemas.microsoft.com/office/drawing/2014/main" id="{AB929665-0AA8-4244-A1ED-F55D3543CCB6}"/>
                </a:ext>
              </a:extLst>
            </p:cNvPr>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800"/>
                </a:spcAft>
              </a:pPr>
              <a:r>
                <a:rPr lang="en-US" sz="7200" dirty="0">
                  <a:solidFill>
                    <a:schemeClr val="bg1">
                      <a:lumMod val="50000"/>
                    </a:schemeClr>
                  </a:solidFill>
                  <a:latin typeface="Calibri" pitchFamily="34" charset="0"/>
                  <a:cs typeface="Calibri" panose="020F0502020204030204" pitchFamily="34" charset="0"/>
                </a:rPr>
                <a:t>Change</a:t>
              </a:r>
              <a:r>
                <a:rPr lang="en-US" sz="7200" baseline="0" dirty="0">
                  <a:solidFill>
                    <a:schemeClr val="bg1">
                      <a:lumMod val="50000"/>
                    </a:schemeClr>
                  </a:solidFill>
                  <a:latin typeface="Calibri" pitchFamily="34" charset="0"/>
                  <a:cs typeface="Calibri" panose="020F0502020204030204" pitchFamily="34" charset="0"/>
                </a:rPr>
                <a:t> Color Theme</a:t>
              </a:r>
              <a:r>
                <a:rPr lang="en-US" sz="7200" dirty="0">
                  <a:solidFill>
                    <a:schemeClr val="bg1">
                      <a:lumMod val="50000"/>
                    </a:schemeClr>
                  </a:solidFill>
                  <a:latin typeface="Calibri" pitchFamily="34" charset="0"/>
                  <a:cs typeface="Calibri" panose="020F0502020204030204" pitchFamily="34" charset="0"/>
                </a:rPr>
                <a:t>:</a:t>
              </a:r>
              <a:endParaRPr sz="720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r>
                <a:rPr lang="en-US" sz="4900" dirty="0">
                  <a:solidFill>
                    <a:schemeClr val="bg1">
                      <a:lumMod val="50000"/>
                    </a:schemeClr>
                  </a:solidFill>
                  <a:latin typeface="Calibri" pitchFamily="34" charset="0"/>
                  <a:cs typeface="Calibri" panose="020F0502020204030204" pitchFamily="34" charset="0"/>
                </a:rPr>
                <a:t>This template is designed to use the built-in color themes in</a:t>
              </a:r>
              <a:r>
                <a:rPr lang="en-US" sz="4900" baseline="0" dirty="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1800"/>
                </a:spcAft>
              </a:pPr>
              <a:r>
                <a:rPr lang="en-US" sz="4900" baseline="0" dirty="0">
                  <a:solidFill>
                    <a:schemeClr val="bg1">
                      <a:lumMod val="50000"/>
                    </a:schemeClr>
                  </a:solidFill>
                  <a:latin typeface="Calibri" pitchFamily="34" charset="0"/>
                  <a:cs typeface="Calibri" panose="020F0502020204030204" pitchFamily="34" charset="0"/>
                </a:rPr>
                <a:t>To change the color theme, select the </a:t>
              </a:r>
              <a:r>
                <a:rPr lang="en-US" sz="4900" b="1" baseline="0" dirty="0">
                  <a:solidFill>
                    <a:schemeClr val="bg1">
                      <a:lumMod val="50000"/>
                    </a:schemeClr>
                  </a:solidFill>
                  <a:latin typeface="Calibri" pitchFamily="34" charset="0"/>
                  <a:cs typeface="Calibri" panose="020F0502020204030204" pitchFamily="34" charset="0"/>
                </a:rPr>
                <a:t>Design</a:t>
              </a:r>
              <a:r>
                <a:rPr lang="en-US" sz="4900" baseline="0" dirty="0">
                  <a:solidFill>
                    <a:schemeClr val="bg1">
                      <a:lumMod val="50000"/>
                    </a:schemeClr>
                  </a:solidFill>
                  <a:latin typeface="Calibri" pitchFamily="34" charset="0"/>
                  <a:cs typeface="Calibri" panose="020F0502020204030204" pitchFamily="34" charset="0"/>
                </a:rPr>
                <a:t> tab, then select the </a:t>
              </a:r>
              <a:r>
                <a:rPr lang="en-US" sz="4900" b="1" baseline="0" dirty="0">
                  <a:solidFill>
                    <a:schemeClr val="bg1">
                      <a:lumMod val="50000"/>
                    </a:schemeClr>
                  </a:solidFill>
                  <a:latin typeface="Calibri" pitchFamily="34" charset="0"/>
                  <a:cs typeface="Calibri" panose="020F0502020204030204" pitchFamily="34" charset="0"/>
                </a:rPr>
                <a:t>Colors</a:t>
              </a:r>
              <a:r>
                <a:rPr lang="en-US" sz="4900" baseline="0" dirty="0">
                  <a:solidFill>
                    <a:schemeClr val="bg1">
                      <a:lumMod val="50000"/>
                    </a:schemeClr>
                  </a:solidFill>
                  <a:latin typeface="Calibri" pitchFamily="34" charset="0"/>
                  <a:cs typeface="Calibri" panose="020F0502020204030204" pitchFamily="34" charset="0"/>
                </a:rPr>
                <a:t> drop-down list.</a:t>
              </a: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r>
                <a:rPr lang="en-US" sz="4900" baseline="0" dirty="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1800"/>
                </a:spcAft>
              </a:pPr>
              <a:r>
                <a:rPr lang="en-US" sz="7200" dirty="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1800"/>
                </a:spcAft>
              </a:pPr>
              <a:r>
                <a:rPr lang="en-US" sz="4900" dirty="0">
                  <a:solidFill>
                    <a:schemeClr val="bg1">
                      <a:lumMod val="50000"/>
                    </a:schemeClr>
                  </a:solidFill>
                  <a:latin typeface="Calibri" pitchFamily="34" charset="0"/>
                  <a:cs typeface="Calibri" panose="020F0502020204030204" pitchFamily="34" charset="0"/>
                </a:rPr>
                <a:t>Once your poster file is ready, visit</a:t>
              </a:r>
              <a:r>
                <a:rPr lang="en-US" sz="4900" baseline="0" dirty="0">
                  <a:solidFill>
                    <a:schemeClr val="bg1">
                      <a:lumMod val="50000"/>
                    </a:schemeClr>
                  </a:solidFill>
                  <a:latin typeface="Calibri" pitchFamily="34" charset="0"/>
                  <a:cs typeface="Calibri" panose="020F0502020204030204" pitchFamily="34" charset="0"/>
                </a:rPr>
                <a:t> </a:t>
              </a:r>
              <a:r>
                <a:rPr lang="en-US" sz="4900" b="1" baseline="0" dirty="0">
                  <a:solidFill>
                    <a:schemeClr val="bg1">
                      <a:lumMod val="50000"/>
                    </a:schemeClr>
                  </a:solidFill>
                  <a:latin typeface="Calibri" pitchFamily="34" charset="0"/>
                  <a:cs typeface="Calibri" panose="020F0502020204030204" pitchFamily="34" charset="0"/>
                </a:rPr>
                <a:t>www.genigraphics.com</a:t>
              </a:r>
              <a:r>
                <a:rPr lang="en-US" sz="4900" baseline="0" dirty="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 as fast as next business day within the US and Canada. </a:t>
              </a:r>
            </a:p>
            <a:p>
              <a:pPr lvl="0">
                <a:spcBef>
                  <a:spcPts val="0"/>
                </a:spcBef>
                <a:spcAft>
                  <a:spcPts val="1800"/>
                </a:spcAft>
              </a:pPr>
              <a:r>
                <a:rPr lang="en-US" sz="4900" baseline="0" dirty="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4900" baseline="0" dirty="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4900" baseline="0" dirty="0">
                  <a:solidFill>
                    <a:schemeClr val="bg1">
                      <a:lumMod val="50000"/>
                    </a:schemeClr>
                  </a:solidFill>
                  <a:latin typeface="Calibri" pitchFamily="34" charset="0"/>
                  <a:cs typeface="Calibri" panose="020F0502020204030204" pitchFamily="34" charset="0"/>
                </a:rPr>
                <a:t>US and Canada:  1-800-790-4001</a:t>
              </a:r>
              <a:br>
                <a:rPr lang="en-US" sz="4900" baseline="0" dirty="0">
                  <a:solidFill>
                    <a:schemeClr val="bg1">
                      <a:lumMod val="50000"/>
                    </a:schemeClr>
                  </a:solidFill>
                  <a:latin typeface="Calibri" pitchFamily="34" charset="0"/>
                  <a:cs typeface="Calibri" panose="020F0502020204030204" pitchFamily="34" charset="0"/>
                </a:rPr>
              </a:br>
              <a:r>
                <a:rPr lang="en-US" sz="4900" baseline="0" dirty="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r>
                <a:rPr lang="en-US" sz="3600" dirty="0">
                  <a:solidFill>
                    <a:schemeClr val="bg1">
                      <a:lumMod val="50000"/>
                    </a:schemeClr>
                  </a:solidFill>
                  <a:latin typeface="Calibri" pitchFamily="34" charset="0"/>
                  <a:cs typeface="Calibri" panose="020F0502020204030204" pitchFamily="34" charset="0"/>
                </a:rPr>
                <a:t/>
              </a:r>
              <a:br>
                <a:rPr lang="en-US" sz="3600" dirty="0">
                  <a:solidFill>
                    <a:schemeClr val="bg1">
                      <a:lumMod val="50000"/>
                    </a:schemeClr>
                  </a:solidFill>
                  <a:latin typeface="Calibri" pitchFamily="34" charset="0"/>
                  <a:cs typeface="Calibri" panose="020F0502020204030204" pitchFamily="34" charset="0"/>
                </a:rPr>
              </a:br>
              <a:r>
                <a:rPr lang="en-US" sz="3600" dirty="0">
                  <a:solidFill>
                    <a:schemeClr val="bg1">
                      <a:lumMod val="50000"/>
                    </a:schemeClr>
                  </a:solidFill>
                  <a:latin typeface="Calibri" pitchFamily="34" charset="0"/>
                  <a:cs typeface="Calibri" panose="020F0502020204030204" pitchFamily="34" charset="0"/>
                </a:rPr>
                <a:t>[This sidebar area does not print.]</a:t>
              </a:r>
            </a:p>
          </p:txBody>
        </p:sp>
        <p:pic>
          <p:nvPicPr>
            <p:cNvPr id="14" name="Picture 13">
              <a:extLst>
                <a:ext uri="{FF2B5EF4-FFF2-40B4-BE49-F238E27FC236}">
                  <a16:creationId xmlns:a16="http://schemas.microsoft.com/office/drawing/2014/main" id="{7BC9F82D-95DA-49DA-BE65-A0623C7DA1E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4281342" y="9260274"/>
              <a:ext cx="11904515" cy="10246926"/>
            </a:xfrm>
            <a:prstGeom prst="rect">
              <a:avLst/>
            </a:prstGeom>
          </p:spPr>
        </p:pic>
      </p:grpSp>
      <p:pic>
        <p:nvPicPr>
          <p:cNvPr id="15" name="Picture 14">
            <a:extLst>
              <a:ext uri="{FF2B5EF4-FFF2-40B4-BE49-F238E27FC236}">
                <a16:creationId xmlns:a16="http://schemas.microsoft.com/office/drawing/2014/main" id="{C3E37D2B-E2A9-420A-AA43-8831BDD4649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8404800" y="32613600"/>
            <a:ext cx="5297435" cy="185928"/>
          </a:xfrm>
          <a:prstGeom prst="rect">
            <a:avLst/>
          </a:prstGeom>
        </p:spPr>
      </p:pic>
    </p:spTree>
    <p:extLst>
      <p:ext uri="{BB962C8B-B14F-4D97-AF65-F5344CB8AC3E}">
        <p14:creationId xmlns:p14="http://schemas.microsoft.com/office/powerpoint/2010/main" val="3690493784"/>
      </p:ext>
    </p:extLst>
  </p:cSld>
  <p:clrMap bg1="lt1" tx1="dk1" bg2="lt2" tx2="dk2" accent1="accent1" accent2="accent2" accent3="accent3" accent4="accent4" accent5="accent5" accent6="accent6" hlink="hlink" folHlink="folHlink"/>
  <p:sldLayoutIdLst>
    <p:sldLayoutId id="2147483715" r:id="rId1"/>
  </p:sldLayoutIdLst>
  <p:txStyles>
    <p:titleStyle>
      <a:lvl1pPr algn="l" defTabSz="3291840" rtl="0" eaLnBrk="1" latinLnBrk="0" hangingPunct="1">
        <a:lnSpc>
          <a:spcPct val="90000"/>
        </a:lnSpc>
        <a:spcBef>
          <a:spcPct val="0"/>
        </a:spcBef>
        <a:buNone/>
        <a:defRPr sz="8000" b="0" kern="1200">
          <a:solidFill>
            <a:schemeClr val="tx1"/>
          </a:solidFill>
          <a:latin typeface="Calibri" panose="020F0502020204030204" pitchFamily="34" charset="0"/>
          <a:ea typeface="+mj-ea"/>
          <a:cs typeface="Calibri" panose="020F0502020204030204" pitchFamily="34" charset="0"/>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800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660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54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480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480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chart" Target="../charts/chart1.xml"/><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22"/>
          <p:cNvSpPr txBox="1">
            <a:spLocks noChangeArrowheads="1"/>
          </p:cNvSpPr>
          <p:nvPr/>
        </p:nvSpPr>
        <p:spPr bwMode="auto">
          <a:xfrm>
            <a:off x="6699887" y="-261195"/>
            <a:ext cx="29723713" cy="4755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7137" tIns="342842" rIns="137137" bIns="342842" anchor="ctr" anchorCtr="0">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7200" b="1" dirty="0" smtClean="0">
                <a:solidFill>
                  <a:schemeClr val="bg1"/>
                </a:solidFill>
                <a:latin typeface="+mn-lt"/>
              </a:rPr>
              <a:t>CHENNAI INSTITUTE OF TECHNOLOGY, CHENNAI</a:t>
            </a:r>
          </a:p>
          <a:p>
            <a:pPr algn="ctr" eaLnBrk="1" hangingPunct="1"/>
            <a:r>
              <a:rPr lang="en-US" sz="7200" b="1" dirty="0" smtClean="0">
                <a:solidFill>
                  <a:schemeClr val="bg1"/>
                </a:solidFill>
                <a:latin typeface="+mn-lt"/>
              </a:rPr>
              <a:t>(Autonomous)</a:t>
            </a:r>
          </a:p>
          <a:p>
            <a:pPr algn="ctr" eaLnBrk="1" hangingPunct="1"/>
            <a:r>
              <a:rPr lang="en-US" sz="7200" b="1" dirty="0" smtClean="0">
                <a:solidFill>
                  <a:schemeClr val="bg1"/>
                </a:solidFill>
                <a:latin typeface="+mn-lt"/>
              </a:rPr>
              <a:t>PBL Course – Machine Learning </a:t>
            </a:r>
          </a:p>
          <a:p>
            <a:pPr algn="ctr" eaLnBrk="1" hangingPunct="1"/>
            <a:r>
              <a:rPr lang="en-US" sz="4800" b="1" dirty="0">
                <a:solidFill>
                  <a:schemeClr val="accent4">
                    <a:lumMod val="40000"/>
                    <a:lumOff val="60000"/>
                  </a:schemeClr>
                </a:solidFill>
                <a:latin typeface="+mn-lt"/>
              </a:rPr>
              <a:t>Project Title: Fast Argument checks for Defensive R programming using checkmate, ensurer and assertthat packages</a:t>
            </a:r>
          </a:p>
        </p:txBody>
      </p:sp>
      <p:sp>
        <p:nvSpPr>
          <p:cNvPr id="24" name="TextBox 23"/>
          <p:cNvSpPr txBox="1"/>
          <p:nvPr/>
        </p:nvSpPr>
        <p:spPr>
          <a:xfrm>
            <a:off x="1706881" y="30038039"/>
            <a:ext cx="12923519" cy="2223674"/>
          </a:xfrm>
          <a:prstGeom prst="rect">
            <a:avLst/>
          </a:prstGeom>
          <a:noFill/>
        </p:spPr>
        <p:txBody>
          <a:bodyPr wrap="square" lIns="68568" tIns="34284" rIns="68568" bIns="34284" rtlCol="0">
            <a:spAutoFit/>
          </a:bodyPr>
          <a:lstStyle/>
          <a:p>
            <a:r>
              <a:rPr lang="en-US" sz="2800" dirty="0" smtClean="0"/>
              <a:t>1.</a:t>
            </a:r>
          </a:p>
          <a:p>
            <a:r>
              <a:rPr lang="en-US" sz="2800" dirty="0" smtClean="0"/>
              <a:t>2.</a:t>
            </a:r>
          </a:p>
          <a:p>
            <a:r>
              <a:rPr lang="en-US" sz="2800" dirty="0" smtClean="0"/>
              <a:t>3.</a:t>
            </a:r>
          </a:p>
          <a:p>
            <a:r>
              <a:rPr lang="en-US" sz="2800" dirty="0" smtClean="0"/>
              <a:t>4.</a:t>
            </a:r>
          </a:p>
          <a:p>
            <a:r>
              <a:rPr lang="en-US" sz="2800" dirty="0" smtClean="0"/>
              <a:t>5.</a:t>
            </a:r>
            <a:endParaRPr lang="en-US" sz="2800" dirty="0"/>
          </a:p>
        </p:txBody>
      </p:sp>
      <p:sp>
        <p:nvSpPr>
          <p:cNvPr id="25" name="TextBox 24"/>
          <p:cNvSpPr txBox="1"/>
          <p:nvPr/>
        </p:nvSpPr>
        <p:spPr>
          <a:xfrm>
            <a:off x="1706880" y="29146502"/>
            <a:ext cx="3173409" cy="746346"/>
          </a:xfrm>
          <a:prstGeom prst="rect">
            <a:avLst/>
          </a:prstGeom>
          <a:noFill/>
        </p:spPr>
        <p:txBody>
          <a:bodyPr wrap="none" lIns="68568" tIns="34284" rIns="68568" bIns="34284" rtlCol="0">
            <a:spAutoFit/>
          </a:bodyPr>
          <a:lstStyle/>
          <a:p>
            <a:r>
              <a:rPr lang="en-US" sz="4400" b="1" dirty="0" smtClean="0"/>
              <a:t>Project Team</a:t>
            </a:r>
            <a:endParaRPr lang="en-US" sz="4400" b="1" dirty="0"/>
          </a:p>
        </p:txBody>
      </p:sp>
      <p:sp>
        <p:nvSpPr>
          <p:cNvPr id="26" name="TextBox 25"/>
          <p:cNvSpPr txBox="1"/>
          <p:nvPr/>
        </p:nvSpPr>
        <p:spPr>
          <a:xfrm>
            <a:off x="21945600" y="30038039"/>
            <a:ext cx="19507200" cy="2292911"/>
          </a:xfrm>
          <a:prstGeom prst="rect">
            <a:avLst/>
          </a:prstGeom>
          <a:noFill/>
        </p:spPr>
        <p:txBody>
          <a:bodyPr wrap="square" lIns="68568" tIns="68568" rIns="68568" bIns="68568" numCol="1" spcCol="342842" rtlCol="0">
            <a:spAutoFit/>
          </a:bodyPr>
          <a:lstStyle/>
          <a:p>
            <a:r>
              <a:rPr lang="en-US" sz="2800" dirty="0" smtClean="0"/>
              <a:t>1.</a:t>
            </a:r>
          </a:p>
          <a:p>
            <a:r>
              <a:rPr lang="en-US" sz="2800" dirty="0" smtClean="0"/>
              <a:t>2.</a:t>
            </a:r>
          </a:p>
          <a:p>
            <a:r>
              <a:rPr lang="en-US" sz="2800" dirty="0" smtClean="0"/>
              <a:t>3</a:t>
            </a:r>
          </a:p>
          <a:p>
            <a:r>
              <a:rPr lang="en-US" sz="2800" dirty="0" smtClean="0"/>
              <a:t>4.</a:t>
            </a:r>
          </a:p>
          <a:p>
            <a:r>
              <a:rPr lang="en-US" sz="2800" dirty="0" smtClean="0"/>
              <a:t>5.  </a:t>
            </a:r>
            <a:endParaRPr lang="en-US" sz="2800" dirty="0"/>
          </a:p>
        </p:txBody>
      </p:sp>
      <p:sp>
        <p:nvSpPr>
          <p:cNvPr id="27" name="TextBox 26"/>
          <p:cNvSpPr txBox="1"/>
          <p:nvPr/>
        </p:nvSpPr>
        <p:spPr>
          <a:xfrm>
            <a:off x="21945603" y="29146502"/>
            <a:ext cx="2703473" cy="746346"/>
          </a:xfrm>
          <a:prstGeom prst="rect">
            <a:avLst/>
          </a:prstGeom>
          <a:noFill/>
        </p:spPr>
        <p:txBody>
          <a:bodyPr wrap="none" lIns="68568" tIns="34284" rIns="68568" bIns="34284" rtlCol="0">
            <a:spAutoFit/>
          </a:bodyPr>
          <a:lstStyle/>
          <a:p>
            <a:r>
              <a:rPr lang="en-US" sz="4400" b="1" dirty="0"/>
              <a:t>References</a:t>
            </a:r>
          </a:p>
        </p:txBody>
      </p:sp>
      <p:sp>
        <p:nvSpPr>
          <p:cNvPr id="10" name="Text Box 189"/>
          <p:cNvSpPr txBox="1">
            <a:spLocks noChangeArrowheads="1"/>
          </p:cNvSpPr>
          <p:nvPr/>
        </p:nvSpPr>
        <p:spPr bwMode="auto">
          <a:xfrm>
            <a:off x="1463040" y="5486400"/>
            <a:ext cx="13167360" cy="6186262"/>
          </a:xfrm>
          <a:prstGeom prst="rect">
            <a:avLst/>
          </a:prstGeom>
          <a:solidFill>
            <a:schemeClr val="bg1"/>
          </a:solidFill>
          <a:ln w="12700">
            <a:solidFill>
              <a:schemeClr val="accent1">
                <a:lumMod val="75000"/>
              </a:schemeClr>
            </a:solidFill>
          </a:ln>
          <a:effectLst/>
        </p:spPr>
        <p:txBody>
          <a:bodyPr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3200" dirty="0">
                <a:latin typeface="Calibri" pitchFamily="34" charset="0"/>
              </a:rPr>
              <a:t>Click here to insert your Abstract text. Type it in or copy and paste from your Word document or other source.</a:t>
            </a:r>
          </a:p>
          <a:p>
            <a:pPr eaLnBrk="1" hangingPunct="1"/>
            <a:endParaRPr lang="en-US" sz="3200" dirty="0">
              <a:latin typeface="Calibri" pitchFamily="34" charset="0"/>
            </a:endParaRPr>
          </a:p>
          <a:p>
            <a:pPr eaLnBrk="1" hangingPunct="1"/>
            <a:r>
              <a:rPr lang="en-US" sz="3200" dirty="0">
                <a:latin typeface="Calibri" pitchFamily="34" charset="0"/>
              </a:rPr>
              <a:t>This text box will automatically re-size to your text. To turn off that feature, right click inside this box and go to </a:t>
            </a:r>
            <a:r>
              <a:rPr lang="en-US" sz="3200" b="1" dirty="0">
                <a:latin typeface="Calibri" pitchFamily="34" charset="0"/>
              </a:rPr>
              <a:t>Format Shape, Text Box, Autofit</a:t>
            </a:r>
            <a:r>
              <a:rPr lang="en-US" sz="3200" dirty="0">
                <a:latin typeface="Calibri" pitchFamily="34" charset="0"/>
              </a:rPr>
              <a:t>, and select the “Do Not Autofit” radio button.</a:t>
            </a:r>
          </a:p>
          <a:p>
            <a:pPr eaLnBrk="1" hangingPunct="1"/>
            <a:endParaRPr lang="en-US" sz="3200" dirty="0">
              <a:latin typeface="Calibri" pitchFamily="34" charset="0"/>
            </a:endParaRPr>
          </a:p>
          <a:p>
            <a:pPr eaLnBrk="1" hangingPunct="1"/>
            <a:r>
              <a:rPr lang="en-US" sz="3200" dirty="0">
                <a:latin typeface="Calibri" pitchFamily="34" charset="0"/>
              </a:rPr>
              <a:t>To change the font style of this text box: Click on the border once to highlight the entire text box, then select a different font or font size that suits you. This text is Calibri 32pt and is easily read up to 5 feet away on a 36x48 poster.</a:t>
            </a:r>
          </a:p>
          <a:p>
            <a:pPr eaLnBrk="1" hangingPunct="1"/>
            <a:endParaRPr lang="en-US" sz="3200" dirty="0">
              <a:latin typeface="Calibri" pitchFamily="34" charset="0"/>
            </a:endParaRPr>
          </a:p>
          <a:p>
            <a:pPr eaLnBrk="1" hangingPunct="1"/>
            <a:r>
              <a:rPr lang="en-US" sz="3200" dirty="0">
                <a:latin typeface="Calibri" pitchFamily="34" charset="0"/>
              </a:rPr>
              <a:t>Zoom out to 100% to preview what this will look like on your printed poster.</a:t>
            </a:r>
          </a:p>
        </p:txBody>
      </p:sp>
      <p:sp>
        <p:nvSpPr>
          <p:cNvPr id="32" name="Rectangle 31"/>
          <p:cNvSpPr/>
          <p:nvPr/>
        </p:nvSpPr>
        <p:spPr>
          <a:xfrm>
            <a:off x="1463040" y="4754880"/>
            <a:ext cx="13167360" cy="731520"/>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bg1"/>
                </a:solidFill>
              </a:rPr>
              <a:t>Abstract</a:t>
            </a:r>
          </a:p>
        </p:txBody>
      </p:sp>
      <p:sp>
        <p:nvSpPr>
          <p:cNvPr id="15" name="Text Box 194"/>
          <p:cNvSpPr txBox="1">
            <a:spLocks noChangeArrowheads="1"/>
          </p:cNvSpPr>
          <p:nvPr/>
        </p:nvSpPr>
        <p:spPr bwMode="auto">
          <a:xfrm>
            <a:off x="15361920" y="13075920"/>
            <a:ext cx="13167360" cy="7663590"/>
          </a:xfrm>
          <a:prstGeom prst="rect">
            <a:avLst/>
          </a:prstGeom>
          <a:solidFill>
            <a:schemeClr val="bg1"/>
          </a:solidFill>
          <a:ln w="12700">
            <a:solidFill>
              <a:schemeClr val="accent1">
                <a:lumMod val="75000"/>
              </a:schemeClr>
            </a:solidFill>
          </a:ln>
          <a:effectLst/>
        </p:spPr>
        <p:txBody>
          <a:bodyPr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3200" dirty="0">
                <a:latin typeface="Calibri" pitchFamily="34" charset="0"/>
              </a:rPr>
              <a:t>Click here to insert your Results text. Type it in or copy and paste from your Word document or other source.</a:t>
            </a:r>
          </a:p>
          <a:p>
            <a:pPr eaLnBrk="1" hangingPunct="1"/>
            <a:endParaRPr lang="en-US" sz="3200" dirty="0">
              <a:latin typeface="Calibri" pitchFamily="34" charset="0"/>
            </a:endParaRPr>
          </a:p>
          <a:p>
            <a:pPr eaLnBrk="1" hangingPunct="1"/>
            <a:r>
              <a:rPr lang="en-US" sz="3200" dirty="0">
                <a:latin typeface="Calibri" pitchFamily="34" charset="0"/>
              </a:rPr>
              <a:t>This text box will automatically re-size to your text. To turn off that feature, right click inside this box and go to </a:t>
            </a:r>
            <a:r>
              <a:rPr lang="en-US" sz="3200" b="1" dirty="0">
                <a:latin typeface="Calibri" pitchFamily="34" charset="0"/>
              </a:rPr>
              <a:t>Format Shape, Text Box, Autofit</a:t>
            </a:r>
            <a:r>
              <a:rPr lang="en-US" sz="3200" dirty="0">
                <a:latin typeface="Calibri" pitchFamily="34" charset="0"/>
              </a:rPr>
              <a:t>, and select the “Do Not Autofit” radio button.</a:t>
            </a:r>
          </a:p>
          <a:p>
            <a:pPr eaLnBrk="1" hangingPunct="1"/>
            <a:endParaRPr lang="en-US" sz="3200" dirty="0">
              <a:latin typeface="Calibri" pitchFamily="34" charset="0"/>
            </a:endParaRPr>
          </a:p>
          <a:p>
            <a:pPr eaLnBrk="1" hangingPunct="1"/>
            <a:r>
              <a:rPr lang="en-US" sz="3200" dirty="0">
                <a:latin typeface="Calibri" pitchFamily="34" charset="0"/>
              </a:rPr>
              <a:t>To change the font style of this text box: Click on the border once to highlight the entire text box, then select a different font or font size that suits you. This text is Calibri 32pt and is easily read up to 5 feet away on a 36x48 poster.</a:t>
            </a:r>
          </a:p>
          <a:p>
            <a:pPr eaLnBrk="1" hangingPunct="1"/>
            <a:endParaRPr lang="en-US" sz="3200" dirty="0">
              <a:latin typeface="Calibri" pitchFamily="34" charset="0"/>
            </a:endParaRPr>
          </a:p>
          <a:p>
            <a:pPr eaLnBrk="1" hangingPunct="1"/>
            <a:r>
              <a:rPr lang="en-US" sz="3200">
                <a:latin typeface="Calibri" pitchFamily="34" charset="0"/>
              </a:rPr>
              <a:t>Speaking </a:t>
            </a:r>
            <a:r>
              <a:rPr lang="en-US" sz="3200" dirty="0">
                <a:latin typeface="Calibri" pitchFamily="34" charset="0"/>
              </a:rPr>
              <a:t>of Results, yours will look better if you remember to run a spell-check on your poster! After you’ve added your content click on </a:t>
            </a:r>
            <a:r>
              <a:rPr lang="en-US" sz="3200" b="1" dirty="0">
                <a:latin typeface="Calibri" pitchFamily="34" charset="0"/>
              </a:rPr>
              <a:t>Review</a:t>
            </a:r>
            <a:r>
              <a:rPr lang="en-US" sz="3200" dirty="0">
                <a:latin typeface="Calibri" pitchFamily="34" charset="0"/>
              </a:rPr>
              <a:t>, </a:t>
            </a:r>
            <a:r>
              <a:rPr lang="en-US" sz="3200" b="1" dirty="0">
                <a:latin typeface="Calibri" pitchFamily="34" charset="0"/>
              </a:rPr>
              <a:t>Spelling</a:t>
            </a:r>
            <a:r>
              <a:rPr lang="en-US" sz="3200" dirty="0">
                <a:latin typeface="Calibri" pitchFamily="34" charset="0"/>
              </a:rPr>
              <a:t>, or press </a:t>
            </a:r>
            <a:r>
              <a:rPr lang="en-US" sz="3200">
                <a:latin typeface="Calibri" pitchFamily="34" charset="0"/>
              </a:rPr>
              <a:t>F7.</a:t>
            </a:r>
          </a:p>
          <a:p>
            <a:pPr eaLnBrk="1" hangingPunct="1"/>
            <a:endParaRPr lang="en-US" sz="3200" dirty="0">
              <a:latin typeface="Calibri" pitchFamily="34" charset="0"/>
            </a:endParaRPr>
          </a:p>
        </p:txBody>
      </p:sp>
      <p:sp>
        <p:nvSpPr>
          <p:cNvPr id="33" name="Rectangle 32"/>
          <p:cNvSpPr/>
          <p:nvPr/>
        </p:nvSpPr>
        <p:spPr>
          <a:xfrm>
            <a:off x="1463040" y="12344400"/>
            <a:ext cx="13167360" cy="731520"/>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bg1"/>
                </a:solidFill>
              </a:rPr>
              <a:t>Introduction</a:t>
            </a:r>
          </a:p>
        </p:txBody>
      </p:sp>
      <p:sp>
        <p:nvSpPr>
          <p:cNvPr id="13" name="Text Box 192"/>
          <p:cNvSpPr txBox="1">
            <a:spLocks noChangeArrowheads="1"/>
          </p:cNvSpPr>
          <p:nvPr/>
        </p:nvSpPr>
        <p:spPr bwMode="auto">
          <a:xfrm>
            <a:off x="15361920" y="5486400"/>
            <a:ext cx="13167360" cy="6186262"/>
          </a:xfrm>
          <a:prstGeom prst="rect">
            <a:avLst/>
          </a:prstGeom>
          <a:solidFill>
            <a:schemeClr val="bg1"/>
          </a:solidFill>
          <a:ln w="12700">
            <a:solidFill>
              <a:schemeClr val="accent1">
                <a:lumMod val="75000"/>
              </a:schemeClr>
            </a:solidFill>
          </a:ln>
          <a:effectLst/>
        </p:spPr>
        <p:txBody>
          <a:bodyPr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3200" dirty="0">
                <a:latin typeface="Calibri" pitchFamily="34" charset="0"/>
              </a:rPr>
              <a:t>Click here to insert your Methods and Materials text. Type it in or copy and paste from your Word document or other source.</a:t>
            </a:r>
          </a:p>
          <a:p>
            <a:pPr eaLnBrk="1" hangingPunct="1"/>
            <a:endParaRPr lang="en-US" sz="3200" dirty="0">
              <a:latin typeface="Calibri" pitchFamily="34" charset="0"/>
            </a:endParaRPr>
          </a:p>
          <a:p>
            <a:pPr eaLnBrk="1" hangingPunct="1"/>
            <a:r>
              <a:rPr lang="en-US" sz="3200" dirty="0">
                <a:latin typeface="Calibri" pitchFamily="34" charset="0"/>
              </a:rPr>
              <a:t>This text box will automatically re-size to your text. To turn off that feature, right click inside this box and go to </a:t>
            </a:r>
            <a:r>
              <a:rPr lang="en-US" sz="3200" b="1" dirty="0">
                <a:latin typeface="Calibri" pitchFamily="34" charset="0"/>
              </a:rPr>
              <a:t>Format Shape, Text Box, Autofit</a:t>
            </a:r>
            <a:r>
              <a:rPr lang="en-US" sz="3200" dirty="0">
                <a:latin typeface="Calibri" pitchFamily="34" charset="0"/>
              </a:rPr>
              <a:t>, and select the “Do Not Autofit” radio button.</a:t>
            </a:r>
          </a:p>
          <a:p>
            <a:pPr eaLnBrk="1" hangingPunct="1"/>
            <a:endParaRPr lang="en-US" sz="3200" dirty="0">
              <a:latin typeface="Calibri" pitchFamily="34" charset="0"/>
            </a:endParaRPr>
          </a:p>
          <a:p>
            <a:pPr eaLnBrk="1" hangingPunct="1"/>
            <a:r>
              <a:rPr lang="en-US" sz="3200" dirty="0">
                <a:latin typeface="Calibri" pitchFamily="34" charset="0"/>
              </a:rPr>
              <a:t>To change the font style of this text box: Click on the border once to highlight the entire text box, then select a different font or font size that suits you. This text is Calibri 32pt and is easily read up to 5 feet away on a 36x48 poster.</a:t>
            </a:r>
          </a:p>
          <a:p>
            <a:pPr eaLnBrk="1" hangingPunct="1"/>
            <a:endParaRPr lang="en-US" sz="3200" dirty="0">
              <a:latin typeface="Calibri" pitchFamily="34" charset="0"/>
            </a:endParaRPr>
          </a:p>
          <a:p>
            <a:pPr eaLnBrk="1" hangingPunct="1"/>
            <a:r>
              <a:rPr lang="en-US" sz="3200" dirty="0">
                <a:latin typeface="Calibri" pitchFamily="34" charset="0"/>
              </a:rPr>
              <a:t>Zoom out to 100% to preview what this will look like on your printed poster.</a:t>
            </a:r>
          </a:p>
        </p:txBody>
      </p:sp>
      <p:sp>
        <p:nvSpPr>
          <p:cNvPr id="34" name="Rectangle 33"/>
          <p:cNvSpPr/>
          <p:nvPr/>
        </p:nvSpPr>
        <p:spPr>
          <a:xfrm>
            <a:off x="15361920" y="4754880"/>
            <a:ext cx="13167360" cy="731520"/>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bg1"/>
                </a:solidFill>
              </a:rPr>
              <a:t>Methods and Materials</a:t>
            </a:r>
          </a:p>
        </p:txBody>
      </p:sp>
      <p:grpSp>
        <p:nvGrpSpPr>
          <p:cNvPr id="3" name="Group 2">
            <a:extLst>
              <a:ext uri="{FF2B5EF4-FFF2-40B4-BE49-F238E27FC236}">
                <a16:creationId xmlns:a16="http://schemas.microsoft.com/office/drawing/2014/main" id="{84C6DFB6-FA02-407B-B04F-034E2E7A3D84}"/>
              </a:ext>
            </a:extLst>
          </p:cNvPr>
          <p:cNvGrpSpPr/>
          <p:nvPr/>
        </p:nvGrpSpPr>
        <p:grpSpPr>
          <a:xfrm>
            <a:off x="29302364" y="4754880"/>
            <a:ext cx="13167360" cy="8395110"/>
            <a:chOff x="29260800" y="12344400"/>
            <a:chExt cx="13167360" cy="8395110"/>
          </a:xfrm>
        </p:grpSpPr>
        <p:sp>
          <p:nvSpPr>
            <p:cNvPr id="12" name="Text Box 191"/>
            <p:cNvSpPr txBox="1">
              <a:spLocks noChangeArrowheads="1"/>
            </p:cNvSpPr>
            <p:nvPr/>
          </p:nvSpPr>
          <p:spPr bwMode="auto">
            <a:xfrm>
              <a:off x="29260800" y="13075920"/>
              <a:ext cx="13167360" cy="7663590"/>
            </a:xfrm>
            <a:prstGeom prst="rect">
              <a:avLst/>
            </a:prstGeom>
            <a:solidFill>
              <a:schemeClr val="bg1"/>
            </a:solidFill>
            <a:ln w="12700">
              <a:solidFill>
                <a:schemeClr val="accent1">
                  <a:lumMod val="75000"/>
                </a:schemeClr>
              </a:solidFill>
            </a:ln>
            <a:effectLst/>
          </p:spPr>
          <p:txBody>
            <a:bodyPr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3200" dirty="0">
                  <a:latin typeface="+mn-lt"/>
                </a:rPr>
                <a:t>Click here to insert your Discussion text. Type it in or copy and paste from your Word document or other source.</a:t>
              </a:r>
            </a:p>
            <a:p>
              <a:pPr eaLnBrk="1" hangingPunct="1"/>
              <a:endParaRPr lang="en-US" sz="3200" dirty="0">
                <a:latin typeface="+mn-lt"/>
              </a:endParaRPr>
            </a:p>
            <a:p>
              <a:pPr eaLnBrk="1" hangingPunct="1"/>
              <a:r>
                <a:rPr lang="en-US" sz="3200" dirty="0">
                  <a:latin typeface="+mn-lt"/>
                </a:rPr>
                <a:t>This text box will automatically re-size to your text. To turn off that feature, right click inside this box and go to </a:t>
              </a:r>
              <a:r>
                <a:rPr lang="en-US" sz="3200" b="1" dirty="0">
                  <a:latin typeface="+mn-lt"/>
                </a:rPr>
                <a:t>Format Shape, Text Box, Autofit</a:t>
              </a:r>
              <a:r>
                <a:rPr lang="en-US" sz="3200" dirty="0">
                  <a:latin typeface="+mn-lt"/>
                </a:rPr>
                <a:t>, and select the “Do Not Autofit” radio button.</a:t>
              </a:r>
            </a:p>
            <a:p>
              <a:pPr eaLnBrk="1" hangingPunct="1"/>
              <a:endParaRPr lang="en-US" sz="3200" dirty="0">
                <a:latin typeface="+mn-lt"/>
              </a:endParaRPr>
            </a:p>
            <a:p>
              <a:pPr eaLnBrk="1" hangingPunct="1"/>
              <a:r>
                <a:rPr lang="en-US" sz="3200" dirty="0">
                  <a:latin typeface="+mn-lt"/>
                </a:rPr>
                <a:t>To change the font style of this text box: Click on the border once to highlight the entire text box, then select a different font or font size that suits you. This text is Calibri 32pt and is easily read up to 5 feet away on a 36x48 poster.</a:t>
              </a:r>
            </a:p>
            <a:p>
              <a:pPr eaLnBrk="1" hangingPunct="1"/>
              <a:endParaRPr lang="en-US" sz="3200" dirty="0">
                <a:latin typeface="+mn-lt"/>
              </a:endParaRPr>
            </a:p>
            <a:p>
              <a:pPr eaLnBrk="1" hangingPunct="1"/>
              <a:r>
                <a:rPr lang="en-US" sz="3200" dirty="0">
                  <a:latin typeface="+mn-lt"/>
                </a:rPr>
                <a:t>Order your poster from </a:t>
              </a:r>
              <a:r>
                <a:rPr lang="en-US" sz="3200" dirty="0" err="1">
                  <a:latin typeface="+mn-lt"/>
                </a:rPr>
                <a:t>Genigraphics</a:t>
              </a:r>
              <a:r>
                <a:rPr lang="en-US" sz="3200" dirty="0">
                  <a:latin typeface="+mn-lt"/>
                </a:rPr>
                <a:t> and we will perform a free design review and advise you if we see anything that may be a concern for printing. We’ll even help tidy things up.</a:t>
              </a:r>
            </a:p>
            <a:p>
              <a:pPr eaLnBrk="1" hangingPunct="1"/>
              <a:endParaRPr lang="en-US" sz="3200" dirty="0">
                <a:latin typeface="+mn-lt"/>
              </a:endParaRPr>
            </a:p>
          </p:txBody>
        </p:sp>
        <p:sp>
          <p:nvSpPr>
            <p:cNvPr id="35" name="Rectangle 34"/>
            <p:cNvSpPr/>
            <p:nvPr/>
          </p:nvSpPr>
          <p:spPr>
            <a:xfrm>
              <a:off x="29260800" y="12344400"/>
              <a:ext cx="13167360" cy="731520"/>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bg1"/>
                  </a:solidFill>
                </a:rPr>
                <a:t>Discussion</a:t>
              </a:r>
            </a:p>
          </p:txBody>
        </p:sp>
      </p:grpSp>
      <p:grpSp>
        <p:nvGrpSpPr>
          <p:cNvPr id="2" name="Group 1">
            <a:extLst>
              <a:ext uri="{FF2B5EF4-FFF2-40B4-BE49-F238E27FC236}">
                <a16:creationId xmlns:a16="http://schemas.microsoft.com/office/drawing/2014/main" id="{B5A1DB20-C080-4DAC-AA55-805C662FD43A}"/>
              </a:ext>
            </a:extLst>
          </p:cNvPr>
          <p:cNvGrpSpPr/>
          <p:nvPr/>
        </p:nvGrpSpPr>
        <p:grpSpPr>
          <a:xfrm>
            <a:off x="29260800" y="21428618"/>
            <a:ext cx="13167360" cy="6917782"/>
            <a:chOff x="29260800" y="20482560"/>
            <a:chExt cx="13167360" cy="6917782"/>
          </a:xfrm>
        </p:grpSpPr>
        <p:sp>
          <p:nvSpPr>
            <p:cNvPr id="14" name="Text Box 193"/>
            <p:cNvSpPr txBox="1">
              <a:spLocks noChangeArrowheads="1"/>
            </p:cNvSpPr>
            <p:nvPr/>
          </p:nvSpPr>
          <p:spPr bwMode="auto">
            <a:xfrm>
              <a:off x="29260800" y="21214080"/>
              <a:ext cx="13167360" cy="6186262"/>
            </a:xfrm>
            <a:prstGeom prst="rect">
              <a:avLst/>
            </a:prstGeom>
            <a:solidFill>
              <a:schemeClr val="bg1"/>
            </a:solidFill>
            <a:ln w="12700">
              <a:solidFill>
                <a:schemeClr val="accent1">
                  <a:lumMod val="75000"/>
                </a:schemeClr>
              </a:solidFill>
            </a:ln>
            <a:effectLst/>
          </p:spPr>
          <p:txBody>
            <a:bodyPr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3200" dirty="0">
                  <a:latin typeface="Calibri" pitchFamily="34" charset="0"/>
                </a:rPr>
                <a:t>Click here to insert your Conclusions text. Type it in or copy and paste from your Word document or other source.</a:t>
              </a:r>
            </a:p>
            <a:p>
              <a:pPr eaLnBrk="1" hangingPunct="1"/>
              <a:endParaRPr lang="en-US" sz="3200" dirty="0">
                <a:latin typeface="Calibri" pitchFamily="34" charset="0"/>
              </a:endParaRPr>
            </a:p>
            <a:p>
              <a:pPr eaLnBrk="1" hangingPunct="1"/>
              <a:r>
                <a:rPr lang="en-US" sz="3200" dirty="0">
                  <a:latin typeface="Calibri" pitchFamily="34" charset="0"/>
                </a:rPr>
                <a:t>This text box will automatically re-size to your text. To turn off that feature, right click inside this box and go to </a:t>
              </a:r>
              <a:r>
                <a:rPr lang="en-US" sz="3200" b="1" dirty="0">
                  <a:latin typeface="Calibri" pitchFamily="34" charset="0"/>
                </a:rPr>
                <a:t>Format Shape, Text Box, Autofit</a:t>
              </a:r>
              <a:r>
                <a:rPr lang="en-US" sz="3200" dirty="0">
                  <a:latin typeface="Calibri" pitchFamily="34" charset="0"/>
                </a:rPr>
                <a:t>, and select the “Do Not Autofit” radio button.</a:t>
              </a:r>
            </a:p>
            <a:p>
              <a:pPr eaLnBrk="1" hangingPunct="1"/>
              <a:endParaRPr lang="en-US" sz="3200" dirty="0">
                <a:latin typeface="Calibri" pitchFamily="34" charset="0"/>
              </a:endParaRPr>
            </a:p>
            <a:p>
              <a:pPr eaLnBrk="1" hangingPunct="1"/>
              <a:r>
                <a:rPr lang="en-US" sz="3200" dirty="0">
                  <a:latin typeface="Calibri" pitchFamily="34" charset="0"/>
                </a:rPr>
                <a:t>To change the font style of this text box: Click on the border once to highlight the entire text box, then select a different font or font size that suits you. This text is Calibri 32pt and is easily read up to 5 feet away on a 36x48 poster.</a:t>
              </a:r>
            </a:p>
            <a:p>
              <a:pPr eaLnBrk="1" hangingPunct="1"/>
              <a:endParaRPr lang="en-US" sz="3200" dirty="0">
                <a:latin typeface="Calibri" pitchFamily="34" charset="0"/>
              </a:endParaRPr>
            </a:p>
            <a:p>
              <a:pPr eaLnBrk="1" hangingPunct="1"/>
              <a:r>
                <a:rPr lang="en-US" sz="3200" dirty="0">
                  <a:latin typeface="Calibri" pitchFamily="34" charset="0"/>
                </a:rPr>
                <a:t>Zoom out to 100% to preview what this will look like on your printed poster.</a:t>
              </a:r>
            </a:p>
          </p:txBody>
        </p:sp>
        <p:sp>
          <p:nvSpPr>
            <p:cNvPr id="36" name="Rectangle 35"/>
            <p:cNvSpPr/>
            <p:nvPr/>
          </p:nvSpPr>
          <p:spPr>
            <a:xfrm>
              <a:off x="29260800" y="20482560"/>
              <a:ext cx="13167360" cy="731520"/>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bg1"/>
                  </a:solidFill>
                </a:rPr>
                <a:t>Conclusions</a:t>
              </a:r>
            </a:p>
          </p:txBody>
        </p:sp>
      </p:grpSp>
      <p:graphicFrame>
        <p:nvGraphicFramePr>
          <p:cNvPr id="44" name="Content Placeholder 114" descr="Sample table with 4 columns, 7 rows." title="Sample Table"/>
          <p:cNvGraphicFramePr>
            <a:graphicFrameLocks/>
          </p:cNvGraphicFramePr>
          <p:nvPr>
            <p:extLst>
              <p:ext uri="{D42A27DB-BD31-4B8C-83A1-F6EECF244321}">
                <p14:modId xmlns:p14="http://schemas.microsoft.com/office/powerpoint/2010/main" val="36609637"/>
              </p:ext>
            </p:extLst>
          </p:nvPr>
        </p:nvGraphicFramePr>
        <p:xfrm>
          <a:off x="15361920" y="22012378"/>
          <a:ext cx="13167360" cy="6334020"/>
        </p:xfrm>
        <a:graphic>
          <a:graphicData uri="http://schemas.openxmlformats.org/drawingml/2006/table">
            <a:tbl>
              <a:tblPr firstRow="1" bandRow="1">
                <a:tableStyleId>{5C22544A-7EE6-4342-B048-85BDC9FD1C3A}</a:tableStyleId>
              </a:tblPr>
              <a:tblGrid>
                <a:gridCol w="32918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904860">
                <a:tc>
                  <a:txBody>
                    <a:bodyPr/>
                    <a:lstStyle/>
                    <a:p>
                      <a:endParaRPr lang="en-US" sz="2700" dirty="0"/>
                    </a:p>
                  </a:txBody>
                  <a:tcPr marL="121920" marR="121920" marT="34290" marB="34290" anchor="ctr">
                    <a:solidFill>
                      <a:schemeClr val="accent1">
                        <a:lumMod val="75000"/>
                      </a:schemeClr>
                    </a:solidFill>
                  </a:tcPr>
                </a:tc>
                <a:tc>
                  <a:txBody>
                    <a:bodyPr/>
                    <a:lstStyle/>
                    <a:p>
                      <a:pPr algn="ctr"/>
                      <a:r>
                        <a:rPr lang="en-US" sz="2700" dirty="0"/>
                        <a:t>Heading</a:t>
                      </a:r>
                    </a:p>
                  </a:txBody>
                  <a:tcPr marL="121920" marR="121920" marT="34290" marB="34290" anchor="ctr">
                    <a:solidFill>
                      <a:schemeClr val="accent1">
                        <a:lumMod val="75000"/>
                      </a:schemeClr>
                    </a:solidFill>
                  </a:tcPr>
                </a:tc>
                <a:tc>
                  <a:txBody>
                    <a:bodyPr/>
                    <a:lstStyle/>
                    <a:p>
                      <a:pPr algn="ctr"/>
                      <a:r>
                        <a:rPr lang="en-US" sz="2700" dirty="0"/>
                        <a:t>Heading</a:t>
                      </a:r>
                    </a:p>
                  </a:txBody>
                  <a:tcPr marL="121920" marR="121920" marT="34290" marB="34290" anchor="ctr">
                    <a:solidFill>
                      <a:schemeClr val="accent1">
                        <a:lumMod val="75000"/>
                      </a:schemeClr>
                    </a:solidFill>
                  </a:tcPr>
                </a:tc>
                <a:tc>
                  <a:txBody>
                    <a:bodyPr/>
                    <a:lstStyle/>
                    <a:p>
                      <a:pPr algn="ctr"/>
                      <a:r>
                        <a:rPr lang="en-US" sz="2700" dirty="0"/>
                        <a:t>Heading</a:t>
                      </a:r>
                    </a:p>
                  </a:txBody>
                  <a:tcPr marL="121920" marR="121920" marT="34290" marB="34290" anchor="ctr">
                    <a:solidFill>
                      <a:schemeClr val="accent1">
                        <a:lumMod val="75000"/>
                      </a:schemeClr>
                    </a:solidFill>
                  </a:tcPr>
                </a:tc>
                <a:extLst>
                  <a:ext uri="{0D108BD9-81ED-4DB2-BD59-A6C34878D82A}">
                    <a16:rowId xmlns:a16="http://schemas.microsoft.com/office/drawing/2014/main" val="10000"/>
                  </a:ext>
                </a:extLst>
              </a:tr>
              <a:tr h="904860">
                <a:tc>
                  <a:txBody>
                    <a:bodyPr/>
                    <a:lstStyle/>
                    <a:p>
                      <a:r>
                        <a:rPr lang="en-US" sz="2700" dirty="0"/>
                        <a:t>Item</a:t>
                      </a:r>
                    </a:p>
                  </a:txBody>
                  <a:tcPr marL="121920" marR="121920" marT="34290" marB="34290" anchor="ctr">
                    <a:solidFill>
                      <a:schemeClr val="accent1">
                        <a:lumMod val="20000"/>
                        <a:lumOff val="80000"/>
                      </a:schemeClr>
                    </a:solidFill>
                  </a:tcPr>
                </a:tc>
                <a:tc>
                  <a:txBody>
                    <a:bodyPr/>
                    <a:lstStyle/>
                    <a:p>
                      <a:pPr algn="ctr"/>
                      <a:r>
                        <a:rPr lang="en-US" sz="2700" dirty="0"/>
                        <a:t>800</a:t>
                      </a:r>
                    </a:p>
                  </a:txBody>
                  <a:tcPr marL="121920" marR="121920" marT="34290" marB="34290" anchor="ctr">
                    <a:solidFill>
                      <a:schemeClr val="accent1">
                        <a:lumMod val="20000"/>
                        <a:lumOff val="80000"/>
                      </a:schemeClr>
                    </a:solidFill>
                  </a:tcPr>
                </a:tc>
                <a:tc>
                  <a:txBody>
                    <a:bodyPr/>
                    <a:lstStyle/>
                    <a:p>
                      <a:pPr algn="ctr"/>
                      <a:r>
                        <a:rPr lang="en-US" sz="2700" dirty="0"/>
                        <a:t>790</a:t>
                      </a:r>
                    </a:p>
                  </a:txBody>
                  <a:tcPr marL="121920" marR="121920" marT="34290" marB="34290" anchor="ctr">
                    <a:solidFill>
                      <a:schemeClr val="accent1">
                        <a:lumMod val="20000"/>
                        <a:lumOff val="80000"/>
                      </a:schemeClr>
                    </a:solidFill>
                  </a:tcPr>
                </a:tc>
                <a:tc>
                  <a:txBody>
                    <a:bodyPr/>
                    <a:lstStyle/>
                    <a:p>
                      <a:pPr algn="ctr"/>
                      <a:r>
                        <a:rPr lang="en-US" sz="2700" dirty="0"/>
                        <a:t>4001</a:t>
                      </a:r>
                    </a:p>
                  </a:txBody>
                  <a:tcPr marL="121920" marR="121920" marT="34290" marB="34290" anchor="ctr">
                    <a:solidFill>
                      <a:schemeClr val="accent1">
                        <a:lumMod val="20000"/>
                        <a:lumOff val="80000"/>
                      </a:schemeClr>
                    </a:solidFill>
                  </a:tcPr>
                </a:tc>
                <a:extLst>
                  <a:ext uri="{0D108BD9-81ED-4DB2-BD59-A6C34878D82A}">
                    <a16:rowId xmlns:a16="http://schemas.microsoft.com/office/drawing/2014/main" val="10001"/>
                  </a:ext>
                </a:extLst>
              </a:tr>
              <a:tr h="904860">
                <a:tc>
                  <a:txBody>
                    <a:bodyPr/>
                    <a:lstStyle/>
                    <a:p>
                      <a:r>
                        <a:rPr lang="en-US" sz="2700" dirty="0"/>
                        <a:t>Item</a:t>
                      </a:r>
                    </a:p>
                  </a:txBody>
                  <a:tcPr marL="121920" marR="121920" marT="34290" marB="34290" anchor="ctr">
                    <a:solidFill>
                      <a:schemeClr val="accent1">
                        <a:lumMod val="20000"/>
                        <a:lumOff val="80000"/>
                      </a:schemeClr>
                    </a:solidFill>
                  </a:tcPr>
                </a:tc>
                <a:tc>
                  <a:txBody>
                    <a:bodyPr/>
                    <a:lstStyle/>
                    <a:p>
                      <a:pPr algn="ctr"/>
                      <a:r>
                        <a:rPr lang="en-US" sz="2700" dirty="0"/>
                        <a:t>356</a:t>
                      </a:r>
                    </a:p>
                  </a:txBody>
                  <a:tcPr marL="121920" marR="121920" marT="34290" marB="34290" anchor="ctr">
                    <a:solidFill>
                      <a:schemeClr val="accent1">
                        <a:lumMod val="20000"/>
                        <a:lumOff val="80000"/>
                      </a:schemeClr>
                    </a:solidFill>
                  </a:tcPr>
                </a:tc>
                <a:tc>
                  <a:txBody>
                    <a:bodyPr/>
                    <a:lstStyle/>
                    <a:p>
                      <a:pPr algn="ctr"/>
                      <a:r>
                        <a:rPr lang="en-US" sz="2700" dirty="0"/>
                        <a:t>856</a:t>
                      </a:r>
                    </a:p>
                  </a:txBody>
                  <a:tcPr marL="121920" marR="121920" marT="34290" marB="34290" anchor="ctr">
                    <a:solidFill>
                      <a:schemeClr val="accent1">
                        <a:lumMod val="20000"/>
                        <a:lumOff val="80000"/>
                      </a:schemeClr>
                    </a:solidFill>
                  </a:tcPr>
                </a:tc>
                <a:tc>
                  <a:txBody>
                    <a:bodyPr/>
                    <a:lstStyle/>
                    <a:p>
                      <a:pPr algn="ctr"/>
                      <a:r>
                        <a:rPr lang="en-US" sz="2700" dirty="0"/>
                        <a:t>290</a:t>
                      </a:r>
                    </a:p>
                  </a:txBody>
                  <a:tcPr marL="121920" marR="121920" marT="34290" marB="34290" anchor="ctr">
                    <a:solidFill>
                      <a:schemeClr val="accent1">
                        <a:lumMod val="20000"/>
                        <a:lumOff val="80000"/>
                      </a:schemeClr>
                    </a:solidFill>
                  </a:tcPr>
                </a:tc>
                <a:extLst>
                  <a:ext uri="{0D108BD9-81ED-4DB2-BD59-A6C34878D82A}">
                    <a16:rowId xmlns:a16="http://schemas.microsoft.com/office/drawing/2014/main" val="10002"/>
                  </a:ext>
                </a:extLst>
              </a:tr>
              <a:tr h="904860">
                <a:tc>
                  <a:txBody>
                    <a:bodyPr/>
                    <a:lstStyle/>
                    <a:p>
                      <a:r>
                        <a:rPr lang="en-US" sz="2700" dirty="0"/>
                        <a:t>Item</a:t>
                      </a:r>
                    </a:p>
                  </a:txBody>
                  <a:tcPr marL="121920" marR="121920" marT="34290" marB="34290" anchor="ctr">
                    <a:solidFill>
                      <a:schemeClr val="accent1">
                        <a:lumMod val="20000"/>
                        <a:lumOff val="80000"/>
                      </a:schemeClr>
                    </a:solidFill>
                  </a:tcPr>
                </a:tc>
                <a:tc>
                  <a:txBody>
                    <a:bodyPr/>
                    <a:lstStyle/>
                    <a:p>
                      <a:pPr algn="ctr"/>
                      <a:r>
                        <a:rPr lang="en-US" sz="2700" dirty="0"/>
                        <a:t>228</a:t>
                      </a:r>
                    </a:p>
                  </a:txBody>
                  <a:tcPr marL="121920" marR="121920" marT="34290" marB="34290" anchor="ctr">
                    <a:solidFill>
                      <a:schemeClr val="accent1">
                        <a:lumMod val="20000"/>
                        <a:lumOff val="80000"/>
                      </a:schemeClr>
                    </a:solidFill>
                  </a:tcPr>
                </a:tc>
                <a:tc>
                  <a:txBody>
                    <a:bodyPr/>
                    <a:lstStyle/>
                    <a:p>
                      <a:pPr algn="ctr"/>
                      <a:r>
                        <a:rPr lang="en-US" sz="2700" dirty="0"/>
                        <a:t>134</a:t>
                      </a:r>
                    </a:p>
                  </a:txBody>
                  <a:tcPr marL="121920" marR="121920" marT="34290" marB="34290" anchor="ctr">
                    <a:solidFill>
                      <a:schemeClr val="accent1">
                        <a:lumMod val="20000"/>
                        <a:lumOff val="80000"/>
                      </a:schemeClr>
                    </a:solidFill>
                  </a:tcPr>
                </a:tc>
                <a:tc>
                  <a:txBody>
                    <a:bodyPr/>
                    <a:lstStyle/>
                    <a:p>
                      <a:pPr algn="ctr"/>
                      <a:r>
                        <a:rPr lang="en-US" sz="2700" dirty="0"/>
                        <a:t>238</a:t>
                      </a:r>
                    </a:p>
                  </a:txBody>
                  <a:tcPr marL="121920" marR="121920" marT="34290" marB="34290" anchor="ctr">
                    <a:solidFill>
                      <a:schemeClr val="accent1">
                        <a:lumMod val="20000"/>
                        <a:lumOff val="80000"/>
                      </a:schemeClr>
                    </a:solidFill>
                  </a:tcPr>
                </a:tc>
                <a:extLst>
                  <a:ext uri="{0D108BD9-81ED-4DB2-BD59-A6C34878D82A}">
                    <a16:rowId xmlns:a16="http://schemas.microsoft.com/office/drawing/2014/main" val="10003"/>
                  </a:ext>
                </a:extLst>
              </a:tr>
              <a:tr h="904860">
                <a:tc>
                  <a:txBody>
                    <a:bodyPr/>
                    <a:lstStyle/>
                    <a:p>
                      <a:r>
                        <a:rPr lang="en-US" sz="2700" dirty="0"/>
                        <a:t>Item</a:t>
                      </a:r>
                    </a:p>
                  </a:txBody>
                  <a:tcPr marL="121920" marR="121920" marT="34290" marB="34290" anchor="ctr">
                    <a:solidFill>
                      <a:schemeClr val="accent1">
                        <a:lumMod val="20000"/>
                        <a:lumOff val="80000"/>
                      </a:schemeClr>
                    </a:solidFill>
                  </a:tcPr>
                </a:tc>
                <a:tc>
                  <a:txBody>
                    <a:bodyPr/>
                    <a:lstStyle/>
                    <a:p>
                      <a:pPr algn="ctr"/>
                      <a:r>
                        <a:rPr lang="en-US" sz="2700" dirty="0"/>
                        <a:t>954</a:t>
                      </a:r>
                    </a:p>
                  </a:txBody>
                  <a:tcPr marL="121920" marR="121920" marT="34290" marB="34290" anchor="ctr">
                    <a:solidFill>
                      <a:schemeClr val="accent1">
                        <a:lumMod val="20000"/>
                        <a:lumOff val="80000"/>
                      </a:schemeClr>
                    </a:solidFill>
                  </a:tcPr>
                </a:tc>
                <a:tc>
                  <a:txBody>
                    <a:bodyPr/>
                    <a:lstStyle/>
                    <a:p>
                      <a:pPr algn="ctr"/>
                      <a:r>
                        <a:rPr lang="en-US" sz="2700" dirty="0"/>
                        <a:t>875</a:t>
                      </a:r>
                    </a:p>
                  </a:txBody>
                  <a:tcPr marL="121920" marR="121920" marT="34290" marB="34290" anchor="ctr">
                    <a:solidFill>
                      <a:schemeClr val="accent1">
                        <a:lumMod val="20000"/>
                        <a:lumOff val="80000"/>
                      </a:schemeClr>
                    </a:solidFill>
                  </a:tcPr>
                </a:tc>
                <a:tc>
                  <a:txBody>
                    <a:bodyPr/>
                    <a:lstStyle/>
                    <a:p>
                      <a:pPr algn="ctr"/>
                      <a:r>
                        <a:rPr lang="en-US" sz="2700" dirty="0"/>
                        <a:t>976</a:t>
                      </a:r>
                    </a:p>
                  </a:txBody>
                  <a:tcPr marL="121920" marR="121920" marT="34290" marB="34290" anchor="ctr">
                    <a:solidFill>
                      <a:schemeClr val="accent1">
                        <a:lumMod val="20000"/>
                        <a:lumOff val="80000"/>
                      </a:schemeClr>
                    </a:solidFill>
                  </a:tcPr>
                </a:tc>
                <a:extLst>
                  <a:ext uri="{0D108BD9-81ED-4DB2-BD59-A6C34878D82A}">
                    <a16:rowId xmlns:a16="http://schemas.microsoft.com/office/drawing/2014/main" val="10004"/>
                  </a:ext>
                </a:extLst>
              </a:tr>
              <a:tr h="904860">
                <a:tc>
                  <a:txBody>
                    <a:bodyPr/>
                    <a:lstStyle/>
                    <a:p>
                      <a:r>
                        <a:rPr lang="en-US" sz="2700" dirty="0"/>
                        <a:t>Item</a:t>
                      </a:r>
                    </a:p>
                  </a:txBody>
                  <a:tcPr marL="121920" marR="121920" marT="34290" marB="34290" anchor="ctr">
                    <a:solidFill>
                      <a:schemeClr val="accent1">
                        <a:lumMod val="20000"/>
                        <a:lumOff val="80000"/>
                      </a:schemeClr>
                    </a:solidFill>
                  </a:tcPr>
                </a:tc>
                <a:tc>
                  <a:txBody>
                    <a:bodyPr/>
                    <a:lstStyle/>
                    <a:p>
                      <a:pPr algn="ctr"/>
                      <a:r>
                        <a:rPr lang="en-US" sz="2700" dirty="0"/>
                        <a:t>324</a:t>
                      </a:r>
                    </a:p>
                  </a:txBody>
                  <a:tcPr marL="121920" marR="121920" marT="34290" marB="34290" anchor="ctr">
                    <a:solidFill>
                      <a:schemeClr val="accent1">
                        <a:lumMod val="20000"/>
                        <a:lumOff val="80000"/>
                      </a:schemeClr>
                    </a:solidFill>
                  </a:tcPr>
                </a:tc>
                <a:tc>
                  <a:txBody>
                    <a:bodyPr/>
                    <a:lstStyle/>
                    <a:p>
                      <a:pPr algn="ctr"/>
                      <a:r>
                        <a:rPr lang="en-US" sz="2700" dirty="0"/>
                        <a:t>325</a:t>
                      </a:r>
                    </a:p>
                  </a:txBody>
                  <a:tcPr marL="121920" marR="121920" marT="34290" marB="34290" anchor="ctr">
                    <a:solidFill>
                      <a:schemeClr val="accent1">
                        <a:lumMod val="20000"/>
                        <a:lumOff val="80000"/>
                      </a:schemeClr>
                    </a:solidFill>
                  </a:tcPr>
                </a:tc>
                <a:tc>
                  <a:txBody>
                    <a:bodyPr/>
                    <a:lstStyle/>
                    <a:p>
                      <a:pPr algn="ctr"/>
                      <a:r>
                        <a:rPr lang="en-US" sz="2700" dirty="0"/>
                        <a:t>301</a:t>
                      </a:r>
                    </a:p>
                  </a:txBody>
                  <a:tcPr marL="121920" marR="121920" marT="34290" marB="34290" anchor="ctr">
                    <a:solidFill>
                      <a:schemeClr val="accent1">
                        <a:lumMod val="20000"/>
                        <a:lumOff val="80000"/>
                      </a:schemeClr>
                    </a:solidFill>
                  </a:tcPr>
                </a:tc>
                <a:extLst>
                  <a:ext uri="{0D108BD9-81ED-4DB2-BD59-A6C34878D82A}">
                    <a16:rowId xmlns:a16="http://schemas.microsoft.com/office/drawing/2014/main" val="10005"/>
                  </a:ext>
                </a:extLst>
              </a:tr>
              <a:tr h="904860">
                <a:tc>
                  <a:txBody>
                    <a:bodyPr/>
                    <a:lstStyle/>
                    <a:p>
                      <a:r>
                        <a:rPr lang="en-US" sz="2700" b="1" dirty="0"/>
                        <a:t>Total</a:t>
                      </a:r>
                    </a:p>
                  </a:txBody>
                  <a:tcPr marL="121920" marR="121920" marT="34290" marB="34290" anchor="ctr">
                    <a:solidFill>
                      <a:schemeClr val="accent1">
                        <a:lumMod val="20000"/>
                        <a:lumOff val="80000"/>
                      </a:schemeClr>
                    </a:solidFill>
                  </a:tcPr>
                </a:tc>
                <a:tc>
                  <a:txBody>
                    <a:bodyPr/>
                    <a:lstStyle/>
                    <a:p>
                      <a:pPr algn="ctr"/>
                      <a:r>
                        <a:rPr lang="en-US" sz="2700" b="1" dirty="0"/>
                        <a:t>199</a:t>
                      </a:r>
                    </a:p>
                  </a:txBody>
                  <a:tcPr marL="121920" marR="121920" marT="34290" marB="34290" anchor="ctr">
                    <a:solidFill>
                      <a:schemeClr val="accent1">
                        <a:lumMod val="20000"/>
                        <a:lumOff val="80000"/>
                      </a:schemeClr>
                    </a:solidFill>
                  </a:tcPr>
                </a:tc>
                <a:tc>
                  <a:txBody>
                    <a:bodyPr/>
                    <a:lstStyle/>
                    <a:p>
                      <a:pPr algn="ctr"/>
                      <a:r>
                        <a:rPr lang="en-US" sz="2700" b="1" dirty="0"/>
                        <a:t>137</a:t>
                      </a:r>
                    </a:p>
                  </a:txBody>
                  <a:tcPr marL="121920" marR="121920" marT="34290" marB="34290" anchor="ctr">
                    <a:solidFill>
                      <a:schemeClr val="accent1">
                        <a:lumMod val="20000"/>
                        <a:lumOff val="80000"/>
                      </a:schemeClr>
                    </a:solidFill>
                  </a:tcPr>
                </a:tc>
                <a:tc>
                  <a:txBody>
                    <a:bodyPr/>
                    <a:lstStyle/>
                    <a:p>
                      <a:pPr algn="ctr"/>
                      <a:r>
                        <a:rPr lang="en-US" sz="2700" b="1" dirty="0"/>
                        <a:t>186</a:t>
                      </a:r>
                    </a:p>
                  </a:txBody>
                  <a:tcPr marL="121920" marR="121920" marT="34290" marB="34290" anchor="ctr">
                    <a:solidFill>
                      <a:schemeClr val="accent1">
                        <a:lumMod val="20000"/>
                        <a:lumOff val="80000"/>
                      </a:schemeClr>
                    </a:solidFill>
                  </a:tcPr>
                </a:tc>
                <a:extLst>
                  <a:ext uri="{0D108BD9-81ED-4DB2-BD59-A6C34878D82A}">
                    <a16:rowId xmlns:a16="http://schemas.microsoft.com/office/drawing/2014/main" val="10006"/>
                  </a:ext>
                </a:extLst>
              </a:tr>
            </a:tbl>
          </a:graphicData>
        </a:graphic>
      </p:graphicFrame>
      <mc:AlternateContent xmlns:mc="http://schemas.openxmlformats.org/markup-compatibility/2006" xmlns:a14="http://schemas.microsoft.com/office/drawing/2010/main">
        <mc:Choice Requires="a14">
          <p:sp>
            <p:nvSpPr>
              <p:cNvPr id="11" name="Text Box 190"/>
              <p:cNvSpPr txBox="1">
                <a:spLocks noChangeArrowheads="1"/>
              </p:cNvSpPr>
              <p:nvPr/>
            </p:nvSpPr>
            <p:spPr bwMode="auto">
              <a:xfrm>
                <a:off x="1463040" y="13075920"/>
                <a:ext cx="13167360" cy="11144158"/>
              </a:xfrm>
              <a:prstGeom prst="rect">
                <a:avLst/>
              </a:prstGeom>
              <a:solidFill>
                <a:schemeClr val="bg1"/>
              </a:solidFill>
              <a:ln w="12700">
                <a:solidFill>
                  <a:schemeClr val="accent1">
                    <a:lumMod val="75000"/>
                  </a:schemeClr>
                </a:solidFill>
              </a:ln>
              <a:effectLst/>
            </p:spPr>
            <p:txBody>
              <a:bodyPr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3200" b="1" dirty="0">
                    <a:latin typeface="+mn-lt"/>
                  </a:rPr>
                  <a:t>Genigraphics®</a:t>
                </a:r>
                <a:r>
                  <a:rPr lang="en-US" sz="3200" dirty="0">
                    <a:latin typeface="+mn-lt"/>
                  </a:rPr>
                  <a:t> has provided this template to assist in preparation of a medical or scientific research poster. The dimensions are set to 36” high by 48” wide but prints can be scaled up or down in size to any dimension with a 3:4 aspect ratio. For example, if you order a 30” x 40” poster using this template, we will print the file at 83.3% of its original size. </a:t>
                </a:r>
                <a:r>
                  <a:rPr lang="en-US" sz="3200" b="1" dirty="0">
                    <a:latin typeface="+mn-lt"/>
                  </a:rPr>
                  <a:t>The most critical factor is that your template and poster dimensions must be proportional:</a:t>
                </a:r>
              </a:p>
              <a:p>
                <a:pPr eaLnBrk="1" hangingPunct="1"/>
                <a:endParaRPr lang="en-US" sz="3200" b="1" dirty="0">
                  <a:latin typeface="+mn-lt"/>
                </a:endParaRPr>
              </a:p>
              <a:p>
                <a:pPr eaLnBrk="1" hangingPunct="1"/>
                <a14:m>
                  <m:oMathPara xmlns:m="http://schemas.openxmlformats.org/officeDocument/2006/math">
                    <m:oMathParaPr>
                      <m:jc m:val="centerGroup"/>
                    </m:oMathParaPr>
                    <m:oMath xmlns:m="http://schemas.openxmlformats.org/officeDocument/2006/math">
                      <m:box>
                        <m:boxPr>
                          <m:ctrlPr>
                            <a:rPr lang="en-US" sz="3200" b="1" i="1">
                              <a:latin typeface="Cambria Math" panose="02040503050406030204" pitchFamily="18" charset="0"/>
                            </a:rPr>
                          </m:ctrlPr>
                        </m:boxPr>
                        <m:e>
                          <m:f>
                            <m:fPr>
                              <m:ctrlPr>
                                <a:rPr lang="en-US" sz="3200" b="1" i="1">
                                  <a:latin typeface="Cambria Math" panose="02040503050406030204" pitchFamily="18" charset="0"/>
                                </a:rPr>
                              </m:ctrlPr>
                            </m:fPr>
                            <m:num>
                              <m:r>
                                <a:rPr lang="en-US" sz="3200" b="1" i="1">
                                  <a:latin typeface="Cambria Math"/>
                                </a:rPr>
                                <m:t>𝒕𝒆𝒎𝒑𝒍𝒂𝒕𝒆</m:t>
                              </m:r>
                              <m:r>
                                <a:rPr lang="en-US" sz="3200" b="1" i="1">
                                  <a:latin typeface="Cambria Math"/>
                                </a:rPr>
                                <m:t> </m:t>
                              </m:r>
                              <m:r>
                                <a:rPr lang="en-US" sz="3200" b="1" i="1">
                                  <a:latin typeface="Cambria Math"/>
                                </a:rPr>
                                <m:t>𝒉𝒆𝒊𝒈𝒉𝒕</m:t>
                              </m:r>
                            </m:num>
                            <m:den>
                              <m:r>
                                <a:rPr lang="en-US" sz="3200" b="1" i="1">
                                  <a:latin typeface="Cambria Math"/>
                                </a:rPr>
                                <m:t>𝒕𝒆𝒎𝒑𝒍𝒂𝒕𝒆</m:t>
                              </m:r>
                              <m:r>
                                <a:rPr lang="en-US" sz="3200" b="1" i="1">
                                  <a:latin typeface="Cambria Math"/>
                                </a:rPr>
                                <m:t> </m:t>
                              </m:r>
                              <m:r>
                                <a:rPr lang="en-US" sz="3200" b="1" i="1">
                                  <a:latin typeface="Cambria Math"/>
                                </a:rPr>
                                <m:t>𝒘𝒊𝒅𝒕𝒉</m:t>
                              </m:r>
                            </m:den>
                          </m:f>
                        </m:e>
                      </m:box>
                      <m:r>
                        <a:rPr lang="en-US" sz="3200" b="1" i="1" smtClean="0">
                          <a:latin typeface="Cambria Math"/>
                        </a:rPr>
                        <m:t> </m:t>
                      </m:r>
                      <m:r>
                        <a:rPr lang="en-US" sz="3200" b="1" i="1">
                          <a:latin typeface="Cambria Math"/>
                        </a:rPr>
                        <m:t>= </m:t>
                      </m:r>
                      <m:box>
                        <m:boxPr>
                          <m:ctrlPr>
                            <a:rPr lang="en-US" sz="3200" b="1" i="1">
                              <a:latin typeface="Cambria Math" panose="02040503050406030204" pitchFamily="18" charset="0"/>
                            </a:rPr>
                          </m:ctrlPr>
                        </m:boxPr>
                        <m:e>
                          <m:f>
                            <m:fPr>
                              <m:ctrlPr>
                                <a:rPr lang="en-US" sz="3200" b="1" i="1">
                                  <a:latin typeface="Cambria Math" panose="02040503050406030204" pitchFamily="18" charset="0"/>
                                </a:rPr>
                              </m:ctrlPr>
                            </m:fPr>
                            <m:num>
                              <m:r>
                                <a:rPr lang="en-US" sz="3200" b="1" i="1">
                                  <a:latin typeface="Cambria Math"/>
                                </a:rPr>
                                <m:t>𝒅𝒆𝒔𝒊𝒓𝒆𝒅</m:t>
                              </m:r>
                              <m:r>
                                <a:rPr lang="en-US" sz="3200" b="1" i="1">
                                  <a:latin typeface="Cambria Math"/>
                                </a:rPr>
                                <m:t> </m:t>
                              </m:r>
                              <m:r>
                                <a:rPr lang="en-US" sz="3200" b="1" i="1">
                                  <a:latin typeface="Cambria Math"/>
                                </a:rPr>
                                <m:t>𝒑𝒓𝒊𝒏𝒕</m:t>
                              </m:r>
                              <m:r>
                                <a:rPr lang="en-US" sz="3200" b="1" i="1">
                                  <a:latin typeface="Cambria Math"/>
                                </a:rPr>
                                <m:t> </m:t>
                              </m:r>
                              <m:r>
                                <a:rPr lang="en-US" sz="3200" b="1" i="1">
                                  <a:latin typeface="Cambria Math"/>
                                </a:rPr>
                                <m:t>𝒉𝒆𝒊𝒈𝒉𝒕</m:t>
                              </m:r>
                            </m:num>
                            <m:den>
                              <m:r>
                                <a:rPr lang="en-US" sz="3200" b="1" i="1">
                                  <a:latin typeface="Cambria Math"/>
                                </a:rPr>
                                <m:t>𝒅𝒆𝒔𝒊𝒓𝒆𝒅</m:t>
                              </m:r>
                              <m:r>
                                <a:rPr lang="en-US" sz="3200" b="1" i="1">
                                  <a:latin typeface="Cambria Math"/>
                                </a:rPr>
                                <m:t> </m:t>
                              </m:r>
                              <m:r>
                                <a:rPr lang="en-US" sz="3200" b="1" i="1">
                                  <a:latin typeface="Cambria Math"/>
                                </a:rPr>
                                <m:t>𝒑𝒓𝒊𝒏𝒕</m:t>
                              </m:r>
                              <m:r>
                                <a:rPr lang="en-US" sz="3200" b="1" i="1">
                                  <a:latin typeface="Cambria Math"/>
                                </a:rPr>
                                <m:t> </m:t>
                              </m:r>
                              <m:r>
                                <a:rPr lang="en-US" sz="3200" b="1" i="1">
                                  <a:latin typeface="Cambria Math"/>
                                </a:rPr>
                                <m:t>𝒘𝒊𝒅𝒕𝒉</m:t>
                              </m:r>
                            </m:den>
                          </m:f>
                        </m:e>
                      </m:box>
                    </m:oMath>
                  </m:oMathPara>
                </a14:m>
                <a:endParaRPr lang="en-US" sz="3200" b="1" dirty="0">
                  <a:latin typeface="+mn-lt"/>
                </a:endParaRPr>
              </a:p>
              <a:p>
                <a:pPr eaLnBrk="1" hangingPunct="1"/>
                <a:endParaRPr lang="en-US" sz="3200" dirty="0">
                  <a:latin typeface="+mn-lt"/>
                </a:endParaRPr>
              </a:p>
              <a:p>
                <a:pPr eaLnBrk="1" hangingPunct="1"/>
                <a:r>
                  <a:rPr lang="en-US" sz="3200" dirty="0">
                    <a:latin typeface="+mn-lt"/>
                  </a:rPr>
                  <a:t>Order your poster from Genigraphics and we will perform a free design review and advise you if we see anything that may be a concern for printing. We’ll even help tidy things up.</a:t>
                </a:r>
              </a:p>
              <a:p>
                <a:pPr eaLnBrk="1" hangingPunct="1"/>
                <a:endParaRPr lang="en-US" sz="3200" dirty="0">
                  <a:latin typeface="+mn-lt"/>
                </a:endParaRPr>
              </a:p>
              <a:p>
                <a:pPr eaLnBrk="1" hangingPunct="1"/>
                <a:r>
                  <a:rPr lang="en-US" sz="3200" dirty="0">
                    <a:latin typeface="+mn-lt"/>
                  </a:rPr>
                  <a:t>We have more history with PowerPoint® than any other printing company. In fact, we helped Microsoft® design the software and we created all of the original color themes, templates, and clip art galleries. We know how to make your printed poster look just like it does on screen. Other printing companies and copy centers will blindly convert your file to another format prior to printing. This can result in text shifting, symbols changing, and altered colors. We know the secrets to avoid those issues. So choose Genigraphics for the most accurate reproduction available.</a:t>
                </a:r>
              </a:p>
            </p:txBody>
          </p:sp>
        </mc:Choice>
        <mc:Fallback xmlns="">
          <p:sp>
            <p:nvSpPr>
              <p:cNvPr id="11" name="Text Box 190"/>
              <p:cNvSpPr txBox="1">
                <a:spLocks noRot="1" noChangeAspect="1" noMove="1" noResize="1" noEditPoints="1" noAdjustHandles="1" noChangeArrowheads="1" noChangeShapeType="1" noTextEdit="1"/>
              </p:cNvSpPr>
              <p:nvPr/>
            </p:nvSpPr>
            <p:spPr bwMode="auto">
              <a:xfrm>
                <a:off x="1463040" y="13075920"/>
                <a:ext cx="13167360" cy="11144158"/>
              </a:xfrm>
              <a:prstGeom prst="rect">
                <a:avLst/>
              </a:prstGeom>
              <a:blipFill>
                <a:blip r:embed="rId2"/>
                <a:stretch>
                  <a:fillRect l="-786" r="-1434"/>
                </a:stretch>
              </a:blipFill>
              <a:ln w="12700">
                <a:solidFill>
                  <a:schemeClr val="accent1">
                    <a:lumMod val="75000"/>
                  </a:schemeClr>
                </a:solidFill>
              </a:ln>
              <a:effectLst/>
            </p:spPr>
            <p:txBody>
              <a:bodyPr/>
              <a:lstStyle/>
              <a:p>
                <a:r>
                  <a:rPr lang="en-US">
                    <a:noFill/>
                  </a:rPr>
                  <a:t> </a:t>
                </a:r>
              </a:p>
            </p:txBody>
          </p:sp>
        </mc:Fallback>
      </mc:AlternateContent>
      <p:sp>
        <p:nvSpPr>
          <p:cNvPr id="45" name="Rectangle 44"/>
          <p:cNvSpPr/>
          <p:nvPr/>
        </p:nvSpPr>
        <p:spPr>
          <a:xfrm>
            <a:off x="15361920" y="12344400"/>
            <a:ext cx="13167360" cy="731520"/>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bg1"/>
                </a:solidFill>
              </a:rPr>
              <a:t>Results</a:t>
            </a:r>
          </a:p>
        </p:txBody>
      </p:sp>
      <p:pic>
        <p:nvPicPr>
          <p:cNvPr id="49" name="Picture 178" descr="Picture1"/>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895600" y="24852874"/>
            <a:ext cx="4114800" cy="2848707"/>
          </a:xfrm>
          <a:prstGeom prst="rect">
            <a:avLst/>
          </a:prstGeom>
          <a:noFill/>
          <a:ln w="9525">
            <a:solidFill>
              <a:schemeClr val="tx2">
                <a:lumMod val="50000"/>
              </a:schemeClr>
            </a:solidFill>
            <a:miter lim="800000"/>
            <a:headEnd/>
            <a:tailEnd/>
          </a:ln>
          <a:extLst>
            <a:ext uri="{909E8E84-426E-40DD-AFC4-6F175D3DCCD1}">
              <a14:hiddenFill xmlns:a14="http://schemas.microsoft.com/office/drawing/2010/main">
                <a:solidFill>
                  <a:srgbClr val="FFFFFF"/>
                </a:solidFill>
              </a14:hiddenFill>
            </a:ext>
          </a:extLst>
        </p:spPr>
      </p:pic>
      <p:pic>
        <p:nvPicPr>
          <p:cNvPr id="50" name="Picture 179" descr="Picture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9067800" y="24852936"/>
            <a:ext cx="4114800" cy="284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 name="Text Box 180"/>
          <p:cNvSpPr txBox="1">
            <a:spLocks noChangeArrowheads="1"/>
          </p:cNvSpPr>
          <p:nvPr/>
        </p:nvSpPr>
        <p:spPr bwMode="auto">
          <a:xfrm>
            <a:off x="2852063" y="27907831"/>
            <a:ext cx="3847824" cy="438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8568" tIns="34284" rIns="68568" bIns="34284">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eaLnBrk="1" hangingPunct="1"/>
            <a:r>
              <a:rPr lang="en-US" sz="2400" b="1" dirty="0">
                <a:latin typeface="Calibri" pitchFamily="34" charset="0"/>
              </a:rPr>
              <a:t>Figure 1.</a:t>
            </a:r>
            <a:r>
              <a:rPr lang="en-US" sz="2400" dirty="0">
                <a:latin typeface="Calibri" pitchFamily="34" charset="0"/>
              </a:rPr>
              <a:t> Label in 24pt Calibri.</a:t>
            </a:r>
          </a:p>
        </p:txBody>
      </p:sp>
      <p:sp>
        <p:nvSpPr>
          <p:cNvPr id="52" name="Text Box 181"/>
          <p:cNvSpPr txBox="1">
            <a:spLocks noChangeArrowheads="1"/>
          </p:cNvSpPr>
          <p:nvPr/>
        </p:nvSpPr>
        <p:spPr bwMode="auto">
          <a:xfrm>
            <a:off x="9024261" y="27907831"/>
            <a:ext cx="3847824" cy="438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8568" tIns="34284" rIns="68568" bIns="34284">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eaLnBrk="1" hangingPunct="1"/>
            <a:r>
              <a:rPr lang="en-US" sz="2400" b="1" dirty="0">
                <a:latin typeface="Calibri" pitchFamily="34" charset="0"/>
              </a:rPr>
              <a:t>Figure 2.</a:t>
            </a:r>
            <a:r>
              <a:rPr lang="en-US" sz="2400" dirty="0">
                <a:latin typeface="Calibri" pitchFamily="34" charset="0"/>
              </a:rPr>
              <a:t> Label in 24pt Calibri.</a:t>
            </a:r>
          </a:p>
        </p:txBody>
      </p:sp>
      <p:sp>
        <p:nvSpPr>
          <p:cNvPr id="53" name="Text Box 180"/>
          <p:cNvSpPr txBox="1">
            <a:spLocks noChangeArrowheads="1"/>
          </p:cNvSpPr>
          <p:nvPr/>
        </p:nvSpPr>
        <p:spPr bwMode="auto">
          <a:xfrm>
            <a:off x="15361920" y="21428618"/>
            <a:ext cx="3736640" cy="438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8568" tIns="34284" rIns="68568" bIns="34284">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2400" b="1" dirty="0">
                <a:latin typeface="Calibri" pitchFamily="34" charset="0"/>
              </a:rPr>
              <a:t>Table 1.</a:t>
            </a:r>
            <a:r>
              <a:rPr lang="en-US" sz="2400" dirty="0">
                <a:latin typeface="Calibri" pitchFamily="34" charset="0"/>
              </a:rPr>
              <a:t> Label in 24pt Calibri.</a:t>
            </a:r>
          </a:p>
        </p:txBody>
      </p:sp>
      <p:grpSp>
        <p:nvGrpSpPr>
          <p:cNvPr id="6" name="Group 5">
            <a:extLst>
              <a:ext uri="{FF2B5EF4-FFF2-40B4-BE49-F238E27FC236}">
                <a16:creationId xmlns:a16="http://schemas.microsoft.com/office/drawing/2014/main" id="{1133DADA-D822-4795-ADFB-31ACA6A10AD2}"/>
              </a:ext>
            </a:extLst>
          </p:cNvPr>
          <p:cNvGrpSpPr/>
          <p:nvPr/>
        </p:nvGrpSpPr>
        <p:grpSpPr>
          <a:xfrm>
            <a:off x="29288509" y="13877182"/>
            <a:ext cx="13167360" cy="6824243"/>
            <a:chOff x="29288509" y="16749350"/>
            <a:chExt cx="13167360" cy="6824243"/>
          </a:xfrm>
        </p:grpSpPr>
        <p:graphicFrame>
          <p:nvGraphicFramePr>
            <p:cNvPr id="7" name="Chart 6">
              <a:extLst>
                <a:ext uri="{FF2B5EF4-FFF2-40B4-BE49-F238E27FC236}">
                  <a16:creationId xmlns:a16="http://schemas.microsoft.com/office/drawing/2014/main" id="{24AC25FB-400E-4CEF-951E-E7350303D7BE}"/>
                </a:ext>
              </a:extLst>
            </p:cNvPr>
            <p:cNvGraphicFramePr/>
            <p:nvPr>
              <p:extLst>
                <p:ext uri="{D42A27DB-BD31-4B8C-83A1-F6EECF244321}">
                  <p14:modId xmlns:p14="http://schemas.microsoft.com/office/powerpoint/2010/main" val="3928272333"/>
                </p:ext>
              </p:extLst>
            </p:nvPr>
          </p:nvGraphicFramePr>
          <p:xfrm>
            <a:off x="29288509" y="16749350"/>
            <a:ext cx="13167360" cy="6186262"/>
          </p:xfrm>
          <a:graphic>
            <a:graphicData uri="http://schemas.openxmlformats.org/drawingml/2006/chart">
              <c:chart xmlns:c="http://schemas.openxmlformats.org/drawingml/2006/chart" xmlns:r="http://schemas.openxmlformats.org/officeDocument/2006/relationships" r:id="rId5"/>
            </a:graphicData>
          </a:graphic>
        </p:graphicFrame>
        <p:sp>
          <p:nvSpPr>
            <p:cNvPr id="37" name="Text Box 181">
              <a:extLst>
                <a:ext uri="{FF2B5EF4-FFF2-40B4-BE49-F238E27FC236}">
                  <a16:creationId xmlns:a16="http://schemas.microsoft.com/office/drawing/2014/main" id="{6015DDE9-BE8E-4EAE-BDDE-D2598928292A}"/>
                </a:ext>
              </a:extLst>
            </p:cNvPr>
            <p:cNvSpPr txBox="1">
              <a:spLocks noChangeArrowheads="1"/>
            </p:cNvSpPr>
            <p:nvPr/>
          </p:nvSpPr>
          <p:spPr bwMode="auto">
            <a:xfrm>
              <a:off x="29288509" y="23135024"/>
              <a:ext cx="3847824" cy="438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8568" tIns="34284" rIns="68568" bIns="34284">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eaLnBrk="1" hangingPunct="1"/>
              <a:r>
                <a:rPr lang="en-US" sz="2400" b="1">
                  <a:latin typeface="Calibri" pitchFamily="34" charset="0"/>
                </a:rPr>
                <a:t>Figure 3.</a:t>
              </a:r>
              <a:r>
                <a:rPr lang="en-US" sz="2400">
                  <a:latin typeface="Calibri" pitchFamily="34" charset="0"/>
                </a:rPr>
                <a:t> </a:t>
              </a:r>
              <a:r>
                <a:rPr lang="en-US" sz="2400" dirty="0">
                  <a:latin typeface="Calibri" pitchFamily="34" charset="0"/>
                </a:rPr>
                <a:t>Label in 24pt Calibri.</a:t>
              </a:r>
            </a:p>
          </p:txBody>
        </p:sp>
      </p:grpSp>
      <p:pic>
        <p:nvPicPr>
          <p:cNvPr id="16" name="Picture 1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9560776" y="287976"/>
            <a:ext cx="3568424" cy="2008020"/>
          </a:xfrm>
          <a:prstGeom prst="rect">
            <a:avLst/>
          </a:prstGeom>
        </p:spPr>
      </p:pic>
      <p:sp>
        <p:nvSpPr>
          <p:cNvPr id="18" name="TextBox 17"/>
          <p:cNvSpPr txBox="1"/>
          <p:nvPr/>
        </p:nvSpPr>
        <p:spPr>
          <a:xfrm>
            <a:off x="39441293" y="3023188"/>
            <a:ext cx="5588924" cy="1200329"/>
          </a:xfrm>
          <a:prstGeom prst="rect">
            <a:avLst/>
          </a:prstGeom>
          <a:noFill/>
        </p:spPr>
        <p:txBody>
          <a:bodyPr wrap="square" rtlCol="0">
            <a:spAutoFit/>
          </a:bodyPr>
          <a:lstStyle/>
          <a:p>
            <a:r>
              <a:rPr lang="en-US" sz="7200" b="1" dirty="0" smtClean="0">
                <a:solidFill>
                  <a:schemeClr val="bg1"/>
                </a:solidFill>
              </a:rPr>
              <a:t>2026-27</a:t>
            </a:r>
            <a:endParaRPr lang="en-US" sz="7200" b="1" dirty="0">
              <a:solidFill>
                <a:schemeClr val="bg1"/>
              </a:solidFill>
            </a:endParaRPr>
          </a:p>
        </p:txBody>
      </p:sp>
      <p:pic>
        <p:nvPicPr>
          <p:cNvPr id="19" name="Picture 1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04800" y="559976"/>
            <a:ext cx="4221085" cy="2934054"/>
          </a:xfrm>
          <a:prstGeom prst="rect">
            <a:avLst/>
          </a:prstGeom>
        </p:spPr>
      </p:pic>
    </p:spTree>
    <p:extLst>
      <p:ext uri="{BB962C8B-B14F-4D97-AF65-F5344CB8AC3E}">
        <p14:creationId xmlns:p14="http://schemas.microsoft.com/office/powerpoint/2010/main" val="225125186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3091</TotalTime>
  <Words>934</Words>
  <Application>Microsoft Office PowerPoint</Application>
  <PresentationFormat>Custom</PresentationFormat>
  <Paragraphs>97</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Cambria Math</vt:lpstr>
      <vt:lpstr>Office Theme</vt:lpstr>
      <vt:lpstr>PowerPoint Presentation</vt:lpstr>
    </vt:vector>
  </TitlesOfParts>
  <Company>Genigraphics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36x48</dc:title>
  <dc:creator>Jay Larson</dc:creator>
  <dc:description>Quality poster printing
www.genigraphics.com
1-800-790-4001</dc:description>
  <cp:lastModifiedBy>user</cp:lastModifiedBy>
  <cp:revision>118</cp:revision>
  <cp:lastPrinted>2017-11-03T00:56:36Z</cp:lastPrinted>
  <dcterms:created xsi:type="dcterms:W3CDTF">2013-02-10T21:14:48Z</dcterms:created>
  <dcterms:modified xsi:type="dcterms:W3CDTF">2026-07-31T05:03:29Z</dcterms:modified>
</cp:coreProperties>
</file>